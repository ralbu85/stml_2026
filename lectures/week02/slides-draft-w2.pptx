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737360"/>
            <a:ext cx="8046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>
                <a:solidFill>
                  <a:srgbClr val="000000"/>
                </a:solidFill>
                <a:latin typeface="Arial"/>
              </a:rPr>
              <a:t>Special Topics in ML</a:t>
            </a:r>
          </a:p>
          <a:p>
            <a:pPr algn="ctr">
              <a:spcBef>
                <a:spcPts val="1000"/>
              </a:spcBef>
            </a:pPr>
            <a:r>
              <a:rPr sz="2000">
                <a:solidFill>
                  <a:srgbClr val="888888"/>
                </a:solidFill>
                <a:latin typeface="Arial"/>
              </a:rPr>
              <a:t>Week 02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737360"/>
            <a:ext cx="80467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>
                <a:solidFill>
                  <a:srgbClr val="000000"/>
                </a:solidFill>
                <a:latin typeface="Arial"/>
              </a:rPr>
              <a:t>Prompting &amp; Reasoning</a:t>
            </a:r>
          </a:p>
          <a:p>
            <a:pPr algn="ctr">
              <a:spcBef>
                <a:spcPts val="1000"/>
              </a:spcBef>
            </a:pPr>
            <a:r>
              <a:rPr sz="2000">
                <a:solidFill>
                  <a:srgbClr val="888888"/>
                </a:solidFill>
                <a:latin typeface="Arial"/>
              </a:rPr>
              <a:t>Week 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>
                <a:solidFill>
                  <a:srgbClr val="000000"/>
                </a:solidFill>
                <a:latin typeface="Arial"/>
              </a:rPr>
              <a:t>Same Model, Different Accuracy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Why prompting matters for Agent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Recall from Week 01: an agent is a system whose next action is decided by the model's output — every one of those decisions is an act of reasoning.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bound: an agent's accuracy is capped by the accuracy of the model's reasoning at each step. No architecture can be accurate on top of a model that reasons inaccurately.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This week's question: before building anything around the model, how much can be gotten out of a bare call — by changing only how we ask?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What is Reasoning?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Definition: deriving a conclusion from given premises through intermediate steps — arithmetic word problems, multi-fact narrowing, ordering the steps of a plan.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What separates it from recall: "What is the capital of Korea?" has no intermediate steps; reasoning does, and every step must be passed through on the way to the conclusion.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fragility: if any one intermediate step is wrong, the conclusion is wrong.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The observed split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problem: a cafeteria has 23 apples. They use 20 for lunch and buy 6 more. How many now?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444444"/>
                </a:solidFill>
                <a:latin typeface="Arial"/>
              </a:rPr>
              <a:t>      ○  Method A — demand only the answer: "Answer: 27" (wrong).</a:t>
            </a:r>
          </a:p>
          <a:p>
            <a:pPr>
              <a:spcAft>
                <a:spcPts val="400"/>
              </a:spcAft>
            </a:pPr>
            <a:r>
              <a:rPr sz="1350">
                <a:solidFill>
                  <a:srgbClr val="444444"/>
                </a:solidFill>
                <a:latin typeface="Arial"/>
              </a:rPr>
              <a:t>      ○  Method B — elicit the worked solution: "23 − 20 = 3, 3 + 6 = 9. Answer: 9" (correct).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source: a measured case from Figure 1 of the Chain-of-Thought paper (Wei et al., 2022), on the large models of that time.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Today's caveat: current models pass this size by direct answering — but the same failure reappears on any model once steps and digits grow (the lab reproduces it).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puzzle: identical weights, different correctness — so the cause is not in the weights but in how the answer is computed.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>
                <a:solidFill>
                  <a:srgbClr val="000000"/>
                </a:solidFill>
                <a:latin typeface="Arial"/>
              </a:rPr>
              <a:t>A Workspace Made Only of Text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How an LLM computes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constraint: an LLM has no workspace outside the text. Producing the next token, it reads only the text so far — no train of thought continues between tokens.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contrast: a person can pause mid-sentence and carry a value in their head; the only place a model can hold an intermediate result is the text it is writing.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consequence: whether intermediate values may be written into the text decides whether multi-step problems are solvable.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Reading the apple problem with this fact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What the problem needs: compute 23 − 20 = 3, keep the 3 somewhere, then add 6 to it.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Method B: the moment "23 − 20 = 3" is written, the 3 is stored in the text — later tokens just read it and advance one step.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Method A: only the answer is allowed, so there is nowhere to write — the single prediction that emits the answer must carry both calculations at once.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point: B's extra tokens are not decoration; they are the storage sites of intermediate values. A is the condition that forbids storage.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Answer-only vs. worked solution</a:t>
            </a:r>
          </a:p>
        </p:txBody>
      </p:sp>
      <p:pic>
        <p:nvPicPr>
          <p:cNvPr id="3" name="Picture 2" descr="fig-2-1-cot-workspa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069" y="960120"/>
            <a:ext cx="8023860" cy="35661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599432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Arial"/>
              </a:rPr>
              <a:t>Course figure (notes Fig. 2.1) — in A one prediction must carry both calculations; in B the written "3" is read back from the text.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The limit, and its open cause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Established fact: there is a limit on how many steps one prediction can carry — measured, and failure grows with steps and digits.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failure shape: prediction emits the most plausible token whether or not the computation finished — so an answer-shaped number assembled from 23 and 6 appears (the 27).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Open question — why the limit exists: one analysis bounds a single prediction by the model's layer depth (Feng et al., 2023; Merrill &amp; Sabharwal, 2023); another blames the rarity of answer-only solutions in training text. Not mutually exclusive.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What we actually need: the limit is measured, and giving the model a place to write circumvents it.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>
                <a:solidFill>
                  <a:srgbClr val="000000"/>
                </a:solidFill>
                <a:latin typeface="Arial"/>
              </a:rPr>
              <a:t>Chain-of-Thought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The remedy: give it a place to write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principle: make the model write out the solution instead of jumping to the answer — then each token only reads the written values and advances one step.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analogy: a person solving a hard calculation on paper instead of in their head.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only lever we have: text placed in the prompt. It takes exactly two forms — an instruction, or worked examples.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Method 1 — Instruction (zero-shot CoT)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move: append one line after the question demanding a worked solution (Kojima et al., 2022).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333333"/>
                </a:solidFill>
                <a:latin typeface="Courier New"/>
              </a:rPr>
              <a:t>There are 23 apples. 20 are used and 6 more are bought. How many are there?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333333"/>
                </a:solidFill>
                <a:latin typeface="Courier New"/>
              </a:rPr>
              <a:t>Write the solution step by step, then give the answer on the last line as "ANSWER: &lt;number&gt;".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output flips to Method B: "23 − 20 = 3. 3 + 6 = 9. ANSWER: 9".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catch: convenient, but it underspecifies — "step by step" fixes neither how fine the steps are nor how the final answer is written.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Method 2 — Worked examples (few-shot)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move: prepend worked question-answer pairs before the question.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333333"/>
                </a:solidFill>
                <a:latin typeface="Courier New"/>
              </a:rPr>
              <a:t>Q: Roger has 5 tennis balls. He buys 2 more cans of 3 balls each. How many balls?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333333"/>
                </a:solidFill>
                <a:latin typeface="Courier New"/>
              </a:rPr>
              <a:t>A: He starts with 5. 2 cans of 3 is 3 × 2 = 6. 5 + 6 = 11. ANSWER: 11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333333"/>
                </a:solidFill>
                <a:latin typeface="Courier New"/>
              </a:rPr>
              <a:t/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333333"/>
                </a:solidFill>
                <a:latin typeface="Courier New"/>
              </a:rPr>
              <a:t>Q: There are 23 apples. 20 are used and 6 more are bought. How many are there?</a:t>
            </a:r>
          </a:p>
          <a:p>
            <a:pPr>
              <a:spcAft>
                <a:spcPts val="200"/>
              </a:spcAft>
            </a:pPr>
            <a:r>
              <a:rPr sz="1250">
                <a:solidFill>
                  <a:srgbClr val="333333"/>
                </a:solidFill>
                <a:latin typeface="Courier New"/>
              </a:rPr>
              <a:t>A:</a:t>
            </a:r>
          </a:p>
          <a:p>
            <a:pPr>
              <a:spcAft>
                <a:spcPts val="800"/>
              </a:spcAft>
            </a:pP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Why it works: in-context learning — examples in the prompt specify the output, with no weight update. Solutions in the examples make the model generate a solution first.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This is the original form: the CoT paper itself uses examples (Wei et al., 2022).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What examples fix that instructions cannot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gap: an instruction leaves the granularity of steps and the format of the final answer open; a worked example pins down exactly what the instruction leaves unsaid.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practical rule: instruction for convenience, examples for control of procedure and format.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Why the lab measures exemplar writing: writing good worked examples IS the specification skill this week trains.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CoT is emergent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Emergence: a capability absent at small scale that appears above a certain scale.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finding: only in sufficiently large models does generating a solution translate into accuracy — in small models CoT is ineffective or even harmful.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Where the numbers are: improvement magnitudes (GSM8K and others) and the scale curves are this week's student presentation (Wei et al., 2022).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>
                <a:solidFill>
                  <a:srgbClr val="000000"/>
                </a:solidFill>
                <a:latin typeface="Arial"/>
              </a:rPr>
              <a:t>What CoT Cannot Fix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A flawless solution, a wrong answer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question (HotpotQA, from Figure 1 of the ReAct paper, Yao et al., 2022): "Aside from the Apple Remote, what other device can control the program the Apple Remote was originally designed to interact with?"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CoT run: "The Apple Remote was designed to interact with Apple TV. Apple TV can be controlled by iPhone, iPad, iPod Touch. So the answer is iPhone, iPad, iPod Touch." — wrong.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truth: the Apple Remote was designed for a program called Front Row; the correct answer is the keyboard function keys.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diagnosis: the step structure is impeccable — the first premise is simply false, and the model reasoned coherently on top of a hallucination.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Why no prompt can fix this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root: CoT's reasoning draws only on knowledge stored in the parameters — there is no path for checking an external fact.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lesson: coherence of the reasoning structure does not guarantee factuality. "Verify each step" in the prompt just produces more coherent text.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structural fix: a step that checks facts against the world — which requires tools (Week 03) and the agent loop (Week 04). We revisit this exact question there, solved with a search tool.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>
                <a:solidFill>
                  <a:srgbClr val="000000"/>
                </a:solidFill>
                <a:latin typeface="Arial"/>
              </a:rPr>
              <a:t>Ask More Than Once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One path is one sample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What CoT commits to: a single written path — if any step on it is wrong, the conclusion is wrong, and the model does not know.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stochastic fact: an LLM samples tokens; raise the temperature and ask again, and each run takes a different path to a possibly different answer.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reframe: one response is one draw from the set of possible paths. A wrong draw does not mean the next draw is wrong.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Majority voting: Self-Consistency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procedure (Wang et al., 2022): sample N solutions at high temperature, extract each final answer, take the majority vote.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Why it works: the true answer probability sums over all reasoning paths — one ask shows only the single most plausible path's term; voting over samples estimates the whole sum.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mechanism in practice: correct answers are reached by different paths converging on the same value; wrong answers scatter, each wrong in its own way.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Self-consistency in one picture</a:t>
            </a:r>
          </a:p>
        </p:txBody>
      </p:sp>
      <p:pic>
        <p:nvPicPr>
          <p:cNvPr id="3" name="Picture 2" descr="fig-2-2-self-consis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8412480" cy="345846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548640" y="4491736"/>
            <a:ext cx="8046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>
                <a:solidFill>
                  <a:srgbClr val="888888"/>
                </a:solidFill>
                <a:latin typeface="Arial"/>
              </a:rPr>
              <a:t>Course figure (notes Fig. 2.2) — sampled paths: correct ones converge, wrong ones scatter, the vote surfaces the convergent answer.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When the vote cannot be tallied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precondition: answers must be discrete and extractable — a number, a choice, a short string — so that equal answers can be counted.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Where it breaks: free-form prose. No two 200-word abstracts are literally equal, so there is nothing to count.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replacement: selecting among such outputs needs a scoring device — a verifier. Named on the next slides, built in Week 05.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1828800"/>
            <a:ext cx="8046720" cy="14630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3600">
                <a:solidFill>
                  <a:srgbClr val="000000"/>
                </a:solidFill>
                <a:latin typeface="Arial"/>
              </a:rPr>
              <a:t>Test-Time Compute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The bill is the number of predictions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accounting: CoT lengthens one response (one extra prediction per solution token); self-consistency produces N responses (N× predictions).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unit price: one prediction costs roughly the same everywhere — so the number of predictions is the bill.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family name: leave the weights untouched and buy accuracy by spending more predictions at answer time — test-time compute.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The method family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CoT: one response made longer — predictions added per solution token.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Self-consistency: N responses, majority vote over discrete answers.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Best-of-N: N responses, a verifier selects the best — this is what replaces the vote when answers are not discrete.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Tree search: branch, evaluate, backtrack (Week 07, planning &amp; search).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shared principle: exchange inference computation for accuracy — inference-time scaling.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Already on the price list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Thinking modes (OpenAI o-series, Claude extended thinking, Gemini thinking): the written solution of this lecture moved inside the model — and billed by the token.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tiers above (o1 pro, Gemini Deep Think, Grok Heavy): documented by their vendors as exploring several reasoning lines in parallel — the sampling-and-selection of this lecture, sold as a subscription level.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Not free: N samples multiply cost and latency by 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real decision in practice: not how big N is, but which questions deserve N &gt; 1 at all (Week 12, inference economics).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384048" y="256032"/>
            <a:ext cx="8375904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solidFill>
                  <a:srgbClr val="000000"/>
                </a:solidFill>
                <a:latin typeface="Arial"/>
              </a:rPr>
              <a:t>This week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987552"/>
            <a:ext cx="8229600" cy="3931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The arc: same model, different accuracy → no workspace but text → CoT writes the workspace → CoT cannot check facts (tools, Week 03) → sample and vote → test-time compute.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Presentation: Chain-of-Thought (Wei et al., 2022) — improvement by prompting alone, and the emergence curve. First student presentation.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Lab: W2_lab_prompting.ipynb — flip answers with step-by-step thinking, take a code-graded eval from baseline to ≥ 11/12 with your own CoT prompt, few-shot email classification 4/4, self-consistency on the hardest item.</a:t>
            </a:r>
          </a:p>
          <a:p>
            <a:pPr>
              <a:spcAft>
                <a:spcPts val="800"/>
              </a:spcAft>
            </a:pPr>
            <a:r>
              <a:rPr sz="1600">
                <a:solidFill>
                  <a:srgbClr val="444444"/>
                </a:solidFill>
                <a:latin typeface="Arial"/>
              </a:rPr>
              <a:t>●  Homework: W2_hw_build_evalset.ipynb — your own eight-item code-graded evalset; show your CoT template beating answer-only on it (≥ 7/8). Due before W3.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