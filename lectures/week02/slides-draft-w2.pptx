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min theory, then two presentations (CoT, Self-Consistency), then the lab.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option: run the answer-only vs. worked-solution comparison in the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slides 3–11 ≈ 10 min, 12–20 ≈ 10 min, 21–30 ≈ 10 min. Slide 19 must be kept even if time runs short: tools repair hallucination, prompting does not.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Special Topics in ML</a:t>
            </a:r>
          </a:p>
          <a:p>
            <a:pPr algn="ctr"/>
            <a:r>
              <a:rPr sz="2000" b="0">
                <a:solidFill>
                  <a:srgbClr val="888888"/>
                </a:solidFill>
                <a:latin typeface="Arial"/>
              </a:rPr>
              <a:t>Week 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Prompting &amp; Reasoning</a:t>
            </a:r>
          </a:p>
          <a:p>
            <a:pPr algn="ctr"/>
            <a:r>
              <a:rPr sz="2000" b="0">
                <a:solidFill>
                  <a:srgbClr val="888888"/>
                </a:solidFill>
                <a:latin typeface="Arial"/>
              </a:rPr>
              <a:t>Week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Prompt Dependence of Reasoning Accuracy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 accuracy and agent accuracy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Premise: an agent is a system whose next action is decided by the model's output. Each such decision is an inference from the current state to an action.</a:t>
            </a:r>
          </a:p>
          <a:p>
            <a:pPr>
              <a:spcAft>
                <a:spcPts val="600"/>
              </a:spcAft>
            </a:pPr>
            <a:r>
              <a:rPr sz="1600" b="0">
                <a:solidFill>
                  <a:srgbClr val="444444"/>
                </a:solidFill>
                <a:latin typeface="Arial"/>
              </a:rPr>
              <a:t>●  Bound: the accuracy of an agent is bounded above by the accuracy of the model's reasoning at each step. Tools, memory, and loops add components around the model; they do not raise the accuracy of a single call.</a:t>
            </a:r>
          </a:p>
          <a:p>
            <a:pPr>
              <a:spcAft>
                <a:spcPts val="600"/>
              </a:spcAft>
            </a:pPr>
            <a:r>
              <a:rPr sz="1600" b="0">
                <a:solidFill>
                  <a:srgbClr val="444444"/>
                </a:solidFill>
                <a:latin typeface="Arial"/>
              </a:rPr>
              <a:t>●  Scope of this chapter: the accuracy of one model call as a function of the prompt.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reasoning = deriving a conclusion from given premises through intermediate steps.</a:t>
            </a:r>
          </a:p>
          <a:p>
            <a:pPr>
              <a:spcAft>
                <a:spcPts val="600"/>
              </a:spcAft>
            </a:pPr>
            <a:r>
              <a:rPr sz="1600" b="0">
                <a:solidFill>
                  <a:srgbClr val="444444"/>
                </a:solidFill>
                <a:latin typeface="Arial"/>
              </a:rPr>
              <a:t>●  Instances: an arithmetic word problem (intermediate results), combining several facts to narrow an answer (intermediate inferences), ordering the steps of a plan (intermediate states).</a:t>
            </a:r>
          </a:p>
          <a:p>
            <a:pPr>
              <a:spcAft>
                <a:spcPts val="600"/>
              </a:spcAft>
            </a:pPr>
            <a:r>
              <a:rPr sz="1600" b="0">
                <a:solidFill>
                  <a:srgbClr val="444444"/>
                </a:solidFill>
                <a:latin typeface="Arial"/>
              </a:rPr>
              <a:t>●  Contrast with recall: "What is the capital of Korea?" has no intermediate step. Reasoning has steps that must be completed before the conclusion.</a:t>
            </a:r>
          </a:p>
          <a:p>
            <a:pPr>
              <a:spcAft>
                <a:spcPts val="600"/>
              </a:spcAft>
            </a:pPr>
            <a:r>
              <a:rPr sz="1600" b="0">
                <a:solidFill>
                  <a:srgbClr val="444444"/>
                </a:solidFill>
                <a:latin typeface="Arial"/>
              </a:rPr>
              <a:t>●  Error propagation: if any intermediate step is wrong, the conclusion is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same model, two prompts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Problem: a cafeteria has 23 apples. They use 20 for lunch and buy 6 more. How many apples do they have?</a:t>
            </a:r>
          </a:p>
          <a:p>
            <a:pPr>
              <a:spcAft>
                <a:spcPts val="0"/>
              </a:spcAft>
            </a:pPr>
            <a:r>
              <a:rPr sz="1200" b="0">
                <a:solidFill>
                  <a:srgbClr val="1F3A5F"/>
                </a:solidFill>
                <a:latin typeface="Courier New"/>
              </a:rPr>
              <a:t>      Prompt A: &lt;problem&gt; Reply with only the number.</a:t>
            </a:r>
          </a:p>
          <a:p>
            <a:pPr>
              <a:spcAft>
                <a:spcPts val="0"/>
              </a:spcAft>
            </a:pPr>
            <a:r>
              <a:rPr sz="1200" b="0">
                <a:solidFill>
                  <a:srgbClr val="1F3A5F"/>
                </a:solidFill>
                <a:latin typeface="Courier New"/>
              </a:rPr>
              <a:t>      Output A: 27   (wrong)</a:t>
            </a:r>
          </a:p>
          <a:p>
            <a:pPr>
              <a:spcAft>
                <a:spcPts val="0"/>
              </a:spcAft>
            </a:pPr>
            <a:r>
              <a:rPr sz="1200" b="0">
                <a:solidFill>
                  <a:srgbClr val="1F3A5F"/>
                </a:solidFill>
                <a:latin typeface="Courier New"/>
              </a:rPr>
              <a:t>      </a:t>
            </a:r>
          </a:p>
          <a:p>
            <a:pPr>
              <a:spcAft>
                <a:spcPts val="0"/>
              </a:spcAft>
            </a:pPr>
            <a:r>
              <a:rPr sz="1200" b="0">
                <a:solidFill>
                  <a:srgbClr val="1F3A5F"/>
                </a:solidFill>
                <a:latin typeface="Courier New"/>
              </a:rPr>
              <a:t>      Prompt B: &lt;problem&gt; Write the solution step by step, then give the answer on the last line as ANSWER: &lt;number&gt;.</a:t>
            </a:r>
          </a:p>
          <a:p>
            <a:pPr>
              <a:spcAft>
                <a:spcPts val="0"/>
              </a:spcAft>
            </a:pPr>
            <a:r>
              <a:rPr sz="1200" b="0">
                <a:solidFill>
                  <a:srgbClr val="1F3A5F"/>
                </a:solidFill>
                <a:latin typeface="Courier New"/>
              </a:rPr>
              <a:t>      Output B: 23 − 20 = 3. 3 + 6 = 9. ANSWER: 9   (correct)</a:t>
            </a:r>
          </a:p>
          <a:p>
            <a:pPr>
              <a:spcAft>
                <a:spcPts val="600"/>
              </a:spcAft>
            </a:pPr>
            <a:r>
              <a:rPr sz="1400" b="0">
                <a:solidFill>
                  <a:srgbClr val="444444"/>
                </a:solidFill>
                <a:latin typeface="Arial"/>
              </a:rPr>
              <a:t>●  Evidence: measured on the large models of 2022; this pair of outputs is the observation that started chain-of-thought research.</a:t>
            </a:r>
          </a:p>
          <a:p>
            <a:pPr>
              <a:spcAft>
                <a:spcPts val="600"/>
              </a:spcAft>
            </a:pPr>
            <a:r>
              <a:rPr sz="1400" b="0">
                <a:solidFill>
                  <a:srgbClr val="444444"/>
                </a:solidFill>
                <a:latin typeface="Arial"/>
              </a:rPr>
              <a:t>●  Current models: a problem of this size is solved under Prompt A as well. The same split reappears when the number of steps and digits grows: on six problems with a two-digit product and two further operations, gpt-4o-mini scores 0/6 under A and 6/6 under B.</a:t>
            </a:r>
          </a:p>
          <a:p>
            <a:pPr>
              <a:spcAft>
                <a:spcPts val="600"/>
              </a:spcAft>
            </a:pPr>
            <a:r>
              <a:rPr sz="1400" b="0">
                <a:solidFill>
                  <a:srgbClr val="444444"/>
                </a:solidFill>
                <a:latin typeface="Arial"/>
              </a:rPr>
              <a:t>●  Conclusion: the weights are identical in A and B. The difference in correctness is caused by the computation the prompt permits before the answer token.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Text as the Model's Only Workspace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Token prediction and intermediate values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Mechanism: an LLM generates one token at a time; each prediction reads only the text so far. No state is carried between tokens outside the text.</a:t>
            </a:r>
          </a:p>
          <a:p>
            <a:pPr>
              <a:spcAft>
                <a:spcPts val="600"/>
              </a:spcAft>
            </a:pPr>
            <a:r>
              <a:rPr sz="1600" b="0">
                <a:solidFill>
                  <a:srgbClr val="444444"/>
                </a:solidFill>
                <a:latin typeface="Arial"/>
              </a:rPr>
              <a:t>●  Consequence: an intermediate value exists for the model only if it has been written into the text.</a:t>
            </a:r>
          </a:p>
          <a:p>
            <a:pPr>
              <a:spcAft>
                <a:spcPts val="600"/>
              </a:spcAft>
            </a:pPr>
            <a:r>
              <a:rPr sz="1600" b="0">
                <a:solidFill>
                  <a:srgbClr val="444444"/>
                </a:solidFill>
                <a:latin typeface="Arial"/>
              </a:rPr>
              <a:t>●  Contrast: a person can hold "3" in working memory while continuing a sentence. The model has no working memory apart from the text it writes.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Three operations in one prediction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0"/>
              </a:spcAft>
            </a:pPr>
            <a:r>
              <a:rPr sz="1400" b="0">
                <a:solidFill>
                  <a:srgbClr val="1F3A5F"/>
                </a:solidFill>
                <a:latin typeface="Courier New"/>
              </a:rPr>
              <a:t>      Prompt: A warehouse holds 47 crates with 38 items each. 519 items are shipped out and 284 items are returned. How many items are in the warehouse now? Reply with only the number.</a:t>
            </a:r>
          </a:p>
          <a:p>
            <a:pPr>
              <a:spcAft>
                <a:spcPts val="0"/>
              </a:spcAft>
            </a:pPr>
            <a:r>
              <a:rPr sz="1400" b="0">
                <a:solidFill>
                  <a:srgbClr val="1F3A5F"/>
                </a:solidFill>
                <a:latin typeface="Courier New"/>
              </a:rPr>
              <a:t>      Output: 1516          correct answer: 1551</a:t>
            </a:r>
          </a:p>
          <a:p>
            <a:pPr>
              <a:spcAft>
                <a:spcPts val="600"/>
              </a:spcAft>
            </a:pPr>
            <a:r>
              <a:rPr sz="1600" b="0">
                <a:solidFill>
                  <a:srgbClr val="444444"/>
                </a:solidFill>
                <a:latin typeface="Arial"/>
              </a:rPr>
              <a:t>●  Required computation: 47 × 38 = 1786; 1786 − 519 = 1267; 1267 + 284 = 1551. Two intermediate values, 1786 and 1267, must be retained between operations.</a:t>
            </a:r>
          </a:p>
          <a:p>
            <a:pPr>
              <a:spcAft>
                <a:spcPts val="600"/>
              </a:spcAft>
            </a:pPr>
            <a:r>
              <a:rPr sz="1600" b="0">
                <a:solidFill>
                  <a:srgbClr val="444444"/>
                </a:solidFill>
                <a:latin typeface="Arial"/>
              </a:rPr>
              <a:t>●  Under this prompt: no token may hold 1786 or 1267, so the single prediction that emits the answer must perform all three operations.</a:t>
            </a:r>
          </a:p>
          <a:p>
            <a:pPr>
              <a:spcAft>
                <a:spcPts val="600"/>
              </a:spcAft>
            </a:pPr>
            <a:r>
              <a:rPr sz="1600" b="0">
                <a:solidFill>
                  <a:srgbClr val="444444"/>
                </a:solidFill>
                <a:latin typeface="Arial"/>
              </a:rPr>
              <a:t>●  Contrast: the apple problem (23 − 20 + 6) has one intermediate value. The same prompt returns 9, correct.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Answer-only vs. worked solution</a:t>
            </a:r>
          </a:p>
        </p:txBody>
      </p:sp>
      <p:pic>
        <p:nvPicPr>
          <p:cNvPr id="3" name="Picture 2" descr="fig-2-1-cot-workspace.png"/>
          <p:cNvPicPr>
            <a:picLocks noChangeAspect="1"/>
          </p:cNvPicPr>
          <p:nvPr/>
        </p:nvPicPr>
        <p:blipFill>
          <a:blip r:embed="rId2"/>
          <a:stretch>
            <a:fillRect/>
          </a:stretch>
        </p:blipFill>
        <p:spPr>
          <a:xfrm>
            <a:off x="1486864" y="987552"/>
            <a:ext cx="6170271"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Under A, no token stores the intermediate value, so one prediction must carry both calculations. Under B, the written "3" is read back from the text and each step is one operation.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Capacity of a single prediction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0"/>
              </a:spcAft>
            </a:pPr>
            <a:r>
              <a:rPr sz="1200" b="0">
                <a:solidFill>
                  <a:srgbClr val="1F3A5F"/>
                </a:solidFill>
                <a:latin typeface="Courier New"/>
              </a:rPr>
              <a:t>      23 − 20 + 6, one operation                       answer only: 9, correct</a:t>
            </a:r>
          </a:p>
          <a:p>
            <a:pPr>
              <a:spcAft>
                <a:spcPts val="0"/>
              </a:spcAft>
            </a:pPr>
            <a:r>
              <a:rPr sz="1200" b="0">
                <a:solidFill>
                  <a:srgbClr val="1F3A5F"/>
                </a:solidFill>
                <a:latin typeface="Courier New"/>
              </a:rPr>
              <a:t>      47 × 38 − 519 + 284, six problems of this form    answer only: 0 of 6 correct (1516, 1407, 4206, 1861, 5008, 5007)</a:t>
            </a:r>
          </a:p>
          <a:p>
            <a:pPr>
              <a:spcAft>
                <a:spcPts val="600"/>
              </a:spcAft>
            </a:pPr>
            <a:r>
              <a:rPr sz="1400" b="0">
                <a:solidFill>
                  <a:srgbClr val="444444"/>
                </a:solidFill>
                <a:latin typeface="Arial"/>
              </a:rPr>
              <a:t>●  Result: the number of operations one prediction can complete is bounded. One operation succeeds; a multiplication followed by two further operations does not.</a:t>
            </a:r>
          </a:p>
          <a:p>
            <a:pPr>
              <a:spcAft>
                <a:spcPts val="600"/>
              </a:spcAft>
            </a:pPr>
            <a:r>
              <a:rPr sz="1400" b="0">
                <a:solidFill>
                  <a:srgbClr val="444444"/>
                </a:solidFill>
                <a:latin typeface="Arial"/>
              </a:rPr>
              <a:t>●  Failure form: prediction emits the most probable token whether or not the computation is complete. An unfinished computation returns a number, not a refusal.</a:t>
            </a:r>
          </a:p>
          <a:p>
            <a:pPr>
              <a:spcAft>
                <a:spcPts val="600"/>
              </a:spcAft>
            </a:pPr>
            <a:r>
              <a:rPr sz="1400" b="0">
                <a:solidFill>
                  <a:srgbClr val="444444"/>
                </a:solidFill>
                <a:latin typeface="Arial"/>
              </a:rPr>
              <a:t>●  Proposed causes: (i) the depth of computation within one forward pass is bounded by the number of layers; (ii) answer-only solution text is rare in training data. The two are compatible.</a:t>
            </a:r>
          </a:p>
          <a:p>
            <a:pPr>
              <a:spcAft>
                <a:spcPts val="600"/>
              </a:spcAft>
            </a:pPr>
            <a:r>
              <a:rPr sz="1400" b="0">
                <a:solidFill>
                  <a:srgbClr val="444444"/>
                </a:solidFill>
                <a:latin typeface="Arial"/>
              </a:rPr>
              <a:t>●  Hypothesis: if 1786 and 1267 were written into the text before the answer, each prediction would perform one operation. The next section tests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Chain-of-Thought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Chain-of-thought prompting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chain-of-thought (CoT) prompting = prompting that induces the model to generate its solution process before the final answer.</a:t>
            </a:r>
          </a:p>
          <a:p>
            <a:pPr>
              <a:spcAft>
                <a:spcPts val="600"/>
              </a:spcAft>
            </a:pPr>
            <a:r>
              <a:rPr sz="1600" b="0">
                <a:solidFill>
                  <a:srgbClr val="444444"/>
                </a:solidFill>
                <a:latin typeface="Arial"/>
              </a:rPr>
              <a:t>●  Mechanism: each token of the solution reads the values already written and advances one operation; the answer token reads the last intermediate value.</a:t>
            </a:r>
          </a:p>
          <a:p>
            <a:pPr>
              <a:spcAft>
                <a:spcPts val="600"/>
              </a:spcAft>
            </a:pPr>
            <a:r>
              <a:rPr sz="1600" b="0">
                <a:solidFill>
                  <a:srgbClr val="444444"/>
                </a:solidFill>
                <a:latin typeface="Arial"/>
              </a:rPr>
              <a:t>●  Two forms: an instruction (zero-shot CoT) or worked examples (few-shot CoT). Both are text in the prompt; nothing else changes.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1 — Instruction (zero-shot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Procedure: append one instruction after the question.</a:t>
            </a:r>
          </a:p>
          <a:p>
            <a:pPr>
              <a:spcAft>
                <a:spcPts val="0"/>
              </a:spcAft>
            </a:pPr>
            <a:r>
              <a:rPr sz="1400" b="0">
                <a:solidFill>
                  <a:srgbClr val="1F3A5F"/>
                </a:solidFill>
                <a:latin typeface="Courier New"/>
              </a:rPr>
              <a:t>      There are 23 apples. 20 are used and 6 more are bought. How many are there?</a:t>
            </a:r>
          </a:p>
          <a:p>
            <a:pPr>
              <a:spcAft>
                <a:spcPts val="0"/>
              </a:spcAft>
            </a:pPr>
            <a:r>
              <a:rPr sz="1400" b="0">
                <a:solidFill>
                  <a:srgbClr val="1F3A5F"/>
                </a:solidFill>
                <a:latin typeface="Courier New"/>
              </a:rPr>
              <a:t>      Write the solution step by step, then give the answer on the last line as ANSWER: &lt;number&gt;.</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Output: 23 − 20 = 3. 3 + 6 = 9. ANSWER: 9</a:t>
            </a:r>
          </a:p>
          <a:p>
            <a:pPr>
              <a:spcAft>
                <a:spcPts val="600"/>
              </a:spcAft>
            </a:pPr>
            <a:r>
              <a:rPr sz="1600" b="0">
                <a:solidFill>
                  <a:srgbClr val="444444"/>
                </a:solidFill>
                <a:latin typeface="Arial"/>
              </a:rPr>
              <a:t>●  Property: the instruction elicits a solution but does not specify its granularity or the format of the final line. "Step by step" admits many layouts.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In-context learning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300" b="0">
                <a:solidFill>
                  <a:srgbClr val="444444"/>
                </a:solidFill>
                <a:latin typeface="Arial"/>
              </a:rPr>
              <a:t>●  Definition: in-context learning (ICL) = the model's output follows the pattern exhibited by examples placed in the prompt, with no change to the weights. The examples are read as text at inference time; nothing is retained after the response.</a:t>
            </a:r>
          </a:p>
          <a:p>
            <a:pPr>
              <a:spcAft>
                <a:spcPts val="600"/>
              </a:spcAft>
            </a:pPr>
            <a:r>
              <a:rPr sz="1300" b="0">
                <a:solidFill>
                  <a:srgbClr val="444444"/>
                </a:solidFill>
                <a:latin typeface="Arial"/>
              </a:rPr>
              <a:t>●  Contrast with fine-tuning: fine-tuning changes the weights and persists across calls. In-context learning changes only the prompt and lasts for one call.</a:t>
            </a:r>
          </a:p>
          <a:p>
            <a:pPr>
              <a:spcAft>
                <a:spcPts val="0"/>
              </a:spcAft>
            </a:pPr>
            <a:r>
              <a:rPr sz="1100" b="0">
                <a:solidFill>
                  <a:srgbClr val="1F3A5F"/>
                </a:solidFill>
                <a:latin typeface="Courier New"/>
              </a:rPr>
              <a:t>      Prompt without an example: Will Santa bring me presents on Christmas?</a:t>
            </a:r>
          </a:p>
          <a:p>
            <a:pPr>
              <a:spcAft>
                <a:spcPts val="0"/>
              </a:spcAft>
            </a:pPr>
            <a:r>
              <a:rPr sz="1100" b="0">
                <a:solidFill>
                  <a:srgbClr val="1F3A5F"/>
                </a:solidFill>
                <a:latin typeface="Courier New"/>
              </a:rPr>
              <a:t>      Output: Whether Santa brings you presents on Christmas often depends on your beliefs and traditions. If you celebrate Christmas and believe in Santa, many people enjoy the magic of the season …</a:t>
            </a:r>
          </a:p>
          <a:p>
            <a:pPr>
              <a:spcAft>
                <a:spcPts val="0"/>
              </a:spcAft>
            </a:pPr>
            <a:r>
              <a:rPr sz="1100" b="0">
                <a:solidFill>
                  <a:srgbClr val="1F3A5F"/>
                </a:solidFill>
                <a:latin typeface="Courier New"/>
              </a:rPr>
              <a:t>      </a:t>
            </a:r>
          </a:p>
          <a:p>
            <a:pPr>
              <a:spcAft>
                <a:spcPts val="0"/>
              </a:spcAft>
            </a:pPr>
            <a:r>
              <a:rPr sz="1100" b="0">
                <a:solidFill>
                  <a:srgbClr val="1F3A5F"/>
                </a:solidFill>
                <a:latin typeface="Courier New"/>
              </a:rPr>
              <a:t>      Prompt with one example:</a:t>
            </a:r>
          </a:p>
          <a:p>
            <a:pPr>
              <a:spcAft>
                <a:spcPts val="0"/>
              </a:spcAft>
            </a:pPr>
            <a:r>
              <a:rPr sz="1100" b="0">
                <a:solidFill>
                  <a:srgbClr val="1F3A5F"/>
                </a:solidFill>
                <a:latin typeface="Courier New"/>
              </a:rPr>
              <a:t>        Q: Is the tooth fairy real?</a:t>
            </a:r>
          </a:p>
          <a:p>
            <a:pPr>
              <a:spcAft>
                <a:spcPts val="0"/>
              </a:spcAft>
            </a:pPr>
            <a:r>
              <a:rPr sz="1100" b="0">
                <a:solidFill>
                  <a:srgbClr val="1F3A5F"/>
                </a:solidFill>
                <a:latin typeface="Courier New"/>
              </a:rPr>
              <a:t>        A: Of course, sweetie. Wrap up your tooth and put it under your pillow tonight. There might be something waiting for you in the morning.</a:t>
            </a:r>
          </a:p>
          <a:p>
            <a:pPr>
              <a:spcAft>
                <a:spcPts val="0"/>
              </a:spcAft>
            </a:pPr>
            <a:r>
              <a:rPr sz="1100" b="0">
                <a:solidFill>
                  <a:srgbClr val="1F3A5F"/>
                </a:solidFill>
                <a:latin typeface="Courier New"/>
              </a:rPr>
              <a:t>        Q: Will Santa bring me presents on Christmas?</a:t>
            </a:r>
          </a:p>
          <a:p>
            <a:pPr>
              <a:spcAft>
                <a:spcPts val="0"/>
              </a:spcAft>
            </a:pPr>
            <a:r>
              <a:rPr sz="1100" b="0">
                <a:solidFill>
                  <a:srgbClr val="1F3A5F"/>
                </a:solidFill>
                <a:latin typeface="Courier New"/>
              </a:rPr>
              <a:t>      Output: A: Absolutely! If you've been good this year, Santa will definitely have some surprises for you under the tree.</a:t>
            </a:r>
          </a:p>
          <a:p>
            <a:pPr>
              <a:spcAft>
                <a:spcPts val="600"/>
              </a:spcAft>
            </a:pPr>
            <a:r>
              <a:rPr sz="1300" b="0">
                <a:solidFill>
                  <a:srgbClr val="444444"/>
                </a:solidFill>
                <a:latin typeface="Arial"/>
              </a:rPr>
              <a:t>●  What an example fixes: format, length, tone, label set, and the procedure of the answer. One example changed all of these; no instruction described any of them.</a:t>
            </a:r>
          </a:p>
          <a:p>
            <a:pPr>
              <a:spcAft>
                <a:spcPts val="600"/>
              </a:spcAft>
            </a:pPr>
            <a:r>
              <a:rPr sz="1300" b="0">
                <a:solidFill>
                  <a:srgbClr val="444444"/>
                </a:solidFill>
                <a:latin typeface="Arial"/>
              </a:rPr>
              <a:t>●  What an example does not fix: knowledge. The model imitates the example's form, including its errors, and learns no new fact from it.</a:t>
            </a:r>
          </a:p>
          <a:p>
            <a:pPr>
              <a:spcAft>
                <a:spcPts val="600"/>
              </a:spcAft>
            </a:pPr>
            <a:r>
              <a:rPr sz="1300" b="0">
                <a:solidFill>
                  <a:srgbClr val="444444"/>
                </a:solidFill>
                <a:latin typeface="Arial"/>
              </a:rPr>
              <a:t>●  Counting: zero-shot = no examples, one-shot = one, few-shot = several. Few-shot CoT (next slide) is in-context learning applied to the solution process.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2 — Worked examples (few-shot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Procedure: prepend question–solution pairs before the question.</a:t>
            </a:r>
          </a:p>
          <a:p>
            <a:pPr>
              <a:spcAft>
                <a:spcPts val="0"/>
              </a:spcAft>
            </a:pPr>
            <a:r>
              <a:rPr sz="1400" b="0">
                <a:solidFill>
                  <a:srgbClr val="1F3A5F"/>
                </a:solidFill>
                <a:latin typeface="Courier New"/>
              </a:rPr>
              <a:t>      Q: Roger has 5 tennis balls. He buys 2 more cans of 3 balls each. How many balls does he have?</a:t>
            </a:r>
          </a:p>
          <a:p>
            <a:pPr>
              <a:spcAft>
                <a:spcPts val="0"/>
              </a:spcAft>
            </a:pPr>
            <a:r>
              <a:rPr sz="1400" b="0">
                <a:solidFill>
                  <a:srgbClr val="1F3A5F"/>
                </a:solidFill>
                <a:latin typeface="Courier New"/>
              </a:rPr>
              <a:t>      A: He starts with 5 balls. 2 cans of 3 balls is 3 × 2 = 6. 5 + 6 = 11. ANSWER: 11</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Q: There are 23 apples. 20 are used and 6 more are bought. How many are there?</a:t>
            </a:r>
          </a:p>
          <a:p>
            <a:pPr>
              <a:spcAft>
                <a:spcPts val="0"/>
              </a:spcAft>
            </a:pPr>
            <a:r>
              <a:rPr sz="1400" b="0">
                <a:solidFill>
                  <a:srgbClr val="1F3A5F"/>
                </a:solidFill>
                <a:latin typeface="Courier New"/>
              </a:rPr>
              <a:t>      A:</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Output: 23 − 20 = 3. 3 + 6 = 9. ANSWER: 9</a:t>
            </a:r>
          </a:p>
          <a:p>
            <a:pPr>
              <a:spcAft>
                <a:spcPts val="600"/>
              </a:spcAft>
            </a:pPr>
            <a:r>
              <a:rPr sz="1600" b="0">
                <a:solidFill>
                  <a:srgbClr val="444444"/>
                </a:solidFill>
                <a:latin typeface="Arial"/>
              </a:rPr>
              <a:t>●  Property: the example fixes what the instruction leaves open: the step granularity, the wording of each step, and the exact final 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Instruction versus example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Difference: an instruction names the requirement; an example exhibits it. The example therefore pins format and procedure that the instruction underspecifies.</a:t>
            </a:r>
          </a:p>
          <a:p>
            <a:pPr>
              <a:spcAft>
                <a:spcPts val="0"/>
              </a:spcAft>
            </a:pPr>
            <a:r>
              <a:rPr sz="1300" b="0">
                <a:solidFill>
                  <a:srgbClr val="1F3A5F"/>
                </a:solidFill>
                <a:latin typeface="Courier New"/>
              </a:rPr>
              <a:t>      Instruction: "Answer with the date."      → "The final date is March 10th, 2026."</a:t>
            </a:r>
          </a:p>
          <a:p>
            <a:pPr>
              <a:spcAft>
                <a:spcPts val="0"/>
              </a:spcAft>
            </a:pPr>
            <a:r>
              <a:rPr sz="1300" b="0">
                <a:solidFill>
                  <a:srgbClr val="1F3A5F"/>
                </a:solidFill>
                <a:latin typeface="Courier New"/>
              </a:rPr>
              <a:t>      Example:    "Note: … / DATE: 2026-06-09"  → "DATE: 2026-03-10"</a:t>
            </a:r>
          </a:p>
          <a:p>
            <a:pPr>
              <a:spcAft>
                <a:spcPts val="600"/>
              </a:spcAft>
            </a:pPr>
            <a:r>
              <a:rPr sz="1500" b="0">
                <a:solidFill>
                  <a:srgbClr val="444444"/>
                </a:solidFill>
                <a:latin typeface="Arial"/>
              </a:rPr>
              <a:t>●  Emergence: the CoT effect appears only above a model-scale threshold; in small models it is absent or harmful.</a:t>
            </a:r>
          </a:p>
          <a:p>
            <a:pPr>
              <a:spcAft>
                <a:spcPts val="600"/>
              </a:spcAft>
            </a:pPr>
            <a:r>
              <a:rPr sz="1500" b="0">
                <a:solidFill>
                  <a:srgbClr val="444444"/>
                </a:solidFill>
                <a:latin typeface="Arial"/>
              </a:rPr>
              <a:t>●  Bound: writing the solution moves the per-prediction bound outward, it does not remove it. Each written step is itself one prediction. With three-digit factors in the same six problems, the written solution scores 1 of 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Limit of Chain-of-Thought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Hallucination: coherent reasoning on a false premise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Definition: hallucination = generation of content that is plausible but not factual.</a:t>
            </a:r>
          </a:p>
          <a:p>
            <a:pPr>
              <a:spcAft>
                <a:spcPts val="600"/>
              </a:spcAft>
            </a:pPr>
            <a:r>
              <a:rPr sz="1500" b="0">
                <a:solidFill>
                  <a:srgbClr val="444444"/>
                </a:solidFill>
                <a:latin typeface="Arial"/>
              </a:rPr>
              <a:t>●  Mechanism: prediction does not stop when a required fact is absent, exactly as it does not stop when a computation is unfinished. The most probable continuation is emitted, and it has the form of an answer.</a:t>
            </a:r>
          </a:p>
          <a:p>
            <a:pPr>
              <a:spcAft>
                <a:spcPts val="600"/>
              </a:spcAft>
            </a:pPr>
            <a:r>
              <a:rPr sz="1500" b="0">
                <a:solidFill>
                  <a:srgbClr val="444444"/>
                </a:solidFill>
                <a:latin typeface="Arial"/>
              </a:rPr>
              <a:t>●  Question: "Aside from the Apple Remote, what other device can control the program the Apple Remote was originally designed to interact with?"</a:t>
            </a:r>
          </a:p>
          <a:p>
            <a:pPr>
              <a:spcAft>
                <a:spcPts val="0"/>
              </a:spcAft>
            </a:pPr>
            <a:r>
              <a:rPr sz="1300" b="0">
                <a:solidFill>
                  <a:srgbClr val="1F3A5F"/>
                </a:solidFill>
                <a:latin typeface="Courier New"/>
              </a:rPr>
              <a:t>      CoT output: The Apple Remote was originally designed to interact with Apple TV. Apple TV can be controlled by iPhone, iPad, and iPod Touch. So the answer is iPhone, iPad, and iPod Touch.</a:t>
            </a:r>
          </a:p>
          <a:p>
            <a:pPr>
              <a:spcAft>
                <a:spcPts val="600"/>
              </a:spcAft>
            </a:pPr>
            <a:r>
              <a:rPr sz="1500" b="0">
                <a:solidFill>
                  <a:srgbClr val="444444"/>
                </a:solidFill>
                <a:latin typeface="Arial"/>
              </a:rPr>
              <a:t>●  Error: the first premise is false. The program was Front Row; the correct answer is keyboard function keys. Every step after the premise is valid.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Why prompting cannot repair it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Cause: CoT draws only on knowledge stored in the parameters. No prompt gives the model access to an external fact.</a:t>
            </a:r>
          </a:p>
          <a:p>
            <a:pPr>
              <a:spcAft>
                <a:spcPts val="600"/>
              </a:spcAft>
            </a:pPr>
            <a:r>
              <a:rPr sz="1500" b="0">
                <a:solidFill>
                  <a:srgbClr val="444444"/>
                </a:solidFill>
                <a:latin typeface="Arial"/>
              </a:rPr>
              <a:t>●  Test: adding "Verify each step before continuing" produces a more elaborate chain on the same false premise.</a:t>
            </a:r>
          </a:p>
          <a:p>
            <a:pPr>
              <a:spcAft>
                <a:spcPts val="0"/>
              </a:spcAft>
            </a:pPr>
            <a:r>
              <a:rPr sz="1300" b="0">
                <a:solidFill>
                  <a:srgbClr val="1F3A5F"/>
                </a:solidFill>
                <a:latin typeface="Courier New"/>
              </a:rPr>
              <a:t>      Prompt: &lt;question&gt; Verify each step before continuing.</a:t>
            </a:r>
          </a:p>
          <a:p>
            <a:pPr>
              <a:spcAft>
                <a:spcPts val="0"/>
              </a:spcAft>
            </a:pPr>
            <a:r>
              <a:rPr sz="1300" b="0">
                <a:solidFill>
                  <a:srgbClr val="1F3A5F"/>
                </a:solidFill>
                <a:latin typeface="Courier New"/>
              </a:rPr>
              <a:t>      Output: Step 1: The Apple Remote was designed for Apple TV. Verified. Step 2: …</a:t>
            </a:r>
          </a:p>
          <a:p>
            <a:pPr>
              <a:spcAft>
                <a:spcPts val="600"/>
              </a:spcAft>
            </a:pPr>
            <a:r>
              <a:rPr sz="1500" b="0">
                <a:solidFill>
                  <a:srgbClr val="444444"/>
                </a:solidFill>
                <a:latin typeface="Arial"/>
              </a:rPr>
              <a:t>●  Repair: a step that checks facts against an external source, that is, a tool call (for this question, a search) inserted between the premise and the next step.</a:t>
            </a:r>
          </a:p>
          <a:p>
            <a:pPr>
              <a:spcAft>
                <a:spcPts val="600"/>
              </a:spcAft>
            </a:pPr>
            <a:r>
              <a:rPr sz="1500" b="0">
                <a:solidFill>
                  <a:srgbClr val="444444"/>
                </a:solidFill>
                <a:latin typeface="Arial"/>
              </a:rPr>
              <a:t>●  Remaining direction: CoT adds predictions within one response. Predictions can also be added by generating the response more than once.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Self-Consistency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One response as one sample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Sampling: an LLM draws each token from a probability distribution. Temperature = the parameter controlling the randomness of that draw; at temperature 0 the most probable token is taken.</a:t>
            </a:r>
          </a:p>
          <a:p>
            <a:pPr>
              <a:spcAft>
                <a:spcPts val="600"/>
              </a:spcAft>
            </a:pPr>
            <a:r>
              <a:rPr sz="1600" b="0">
                <a:solidFill>
                  <a:srgbClr val="444444"/>
                </a:solidFill>
                <a:latin typeface="Arial"/>
              </a:rPr>
              <a:t>●  Consequence: at temperature &gt; 0, repeated runs of the same prompt follow different solution paths and may reach different answers.</a:t>
            </a:r>
          </a:p>
          <a:p>
            <a:pPr>
              <a:spcAft>
                <a:spcPts val="600"/>
              </a:spcAft>
            </a:pPr>
            <a:r>
              <a:rPr sz="1600" b="0">
                <a:solidFill>
                  <a:srgbClr val="444444"/>
                </a:solidFill>
                <a:latin typeface="Arial"/>
              </a:rPr>
              <a:t>●  Interpretation: one response is one sample from the set of possible reasoning paths. A wrong sample does not imply that the next sample is wrong.</a:t>
            </a:r>
          </a:p>
          <a:p>
            <a:pPr>
              <a:spcAft>
                <a:spcPts val="0"/>
              </a:spcAft>
            </a:pPr>
            <a:r>
              <a:rPr sz="1400" b="0">
                <a:solidFill>
                  <a:srgbClr val="1F3A5F"/>
                </a:solidFill>
                <a:latin typeface="Courier New"/>
              </a:rPr>
              <a:t>      Same CoT prompt, temperature 1.0, five runs → final answers: 9, 27, 9, 8, 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Majority voting — Self-Consistency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self-consistency = sample N solutions at temperature &gt; 0, extract the final answer of each, and return the majority answer.</a:t>
            </a:r>
          </a:p>
          <a:p>
            <a:pPr>
              <a:spcAft>
                <a:spcPts val="600"/>
              </a:spcAft>
            </a:pPr>
            <a:r>
              <a:rPr sz="1600" b="0">
                <a:solidFill>
                  <a:srgbClr val="444444"/>
                </a:solidFill>
                <a:latin typeface="Arial"/>
              </a:rPr>
              <a:t>●  Justification: P(a | q) = Σ_r P(a | r, q) P(r | q). A single response evaluates one term (one path r). The vote over samples estimates the sum over paths.</a:t>
            </a:r>
          </a:p>
          <a:p>
            <a:pPr>
              <a:spcAft>
                <a:spcPts val="600"/>
              </a:spcAft>
            </a:pPr>
            <a:r>
              <a:rPr sz="1600" b="0">
                <a:solidFill>
                  <a:srgbClr val="444444"/>
                </a:solidFill>
                <a:latin typeface="Arial"/>
              </a:rPr>
              <a:t>●  Empirical pattern: correct answers are reached by different paths that converge on one value; wrong answers scatter across distinct values.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Self-consistency</a:t>
            </a:r>
          </a:p>
        </p:txBody>
      </p:sp>
      <p:pic>
        <p:nvPicPr>
          <p:cNvPr id="3" name="Picture 2" descr="fig-2-2-self-consistency.png"/>
          <p:cNvPicPr>
            <a:picLocks noChangeAspect="1"/>
          </p:cNvPicPr>
          <p:nvPr/>
        </p:nvPicPr>
        <p:blipFill>
          <a:blip r:embed="rId2"/>
          <a:stretch>
            <a:fillRect/>
          </a:stretch>
        </p:blipFill>
        <p:spPr>
          <a:xfrm>
            <a:off x="1236802" y="987552"/>
            <a:ext cx="6670395"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Paths sampled from the same question. Correct paths converge on one value, wrong paths scatter, and the vote returns the convergent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Precondition of the vote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Requirement: the final answer must be discrete and extractable (a number, a choice, a short string) so that equal answers can be counted.</a:t>
            </a:r>
          </a:p>
          <a:p>
            <a:pPr>
              <a:spcAft>
                <a:spcPts val="600"/>
              </a:spcAft>
            </a:pPr>
            <a:r>
              <a:rPr sz="1600" b="0">
                <a:solidFill>
                  <a:srgbClr val="444444"/>
                </a:solidFill>
                <a:latin typeface="Arial"/>
              </a:rPr>
              <a:t>●  Failure case: free-form text. Two 200-word abstracts are never identical; the vote has nothing to count.</a:t>
            </a:r>
          </a:p>
          <a:p>
            <a:pPr>
              <a:spcAft>
                <a:spcPts val="600"/>
              </a:spcAft>
            </a:pPr>
            <a:r>
              <a:rPr sz="1600" b="0">
                <a:solidFill>
                  <a:srgbClr val="444444"/>
                </a:solidFill>
                <a:latin typeface="Arial"/>
              </a:rPr>
              <a:t>●  Replacement: selection among non-discrete outputs requires a scoring function, a verifier.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Test-Time Compute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Accounting in predictions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Count: CoT lengthens one response by one prediction per solution token. Self-consistency multiplies the number of responses by N.</a:t>
            </a:r>
          </a:p>
          <a:p>
            <a:pPr>
              <a:spcAft>
                <a:spcPts val="600"/>
              </a:spcAft>
            </a:pPr>
            <a:r>
              <a:rPr sz="1600" b="0">
                <a:solidFill>
                  <a:srgbClr val="444444"/>
                </a:solidFill>
                <a:latin typeface="Arial"/>
              </a:rPr>
              <a:t>●  Cost: the cost of one prediction is approximately constant, so cost is proportional to the number of predictions.</a:t>
            </a:r>
          </a:p>
          <a:p>
            <a:pPr>
              <a:spcAft>
                <a:spcPts val="600"/>
              </a:spcAft>
            </a:pPr>
            <a:r>
              <a:rPr sz="1600" b="0">
                <a:solidFill>
                  <a:srgbClr val="444444"/>
                </a:solidFill>
                <a:latin typeface="Arial"/>
              </a:rPr>
              <a:t>●  Definition: test-time compute = accuracy obtained by increasing the number of predictions at inference time, with the weights unchanged. The general principle is inference-time scaling.</a:t>
            </a:r>
          </a:p>
          <a:p>
            <a:pPr>
              <a:spcAft>
                <a:spcPts val="0"/>
              </a:spcAft>
            </a:pPr>
            <a:r>
              <a:rPr sz="1400" b="0">
                <a:solidFill>
                  <a:srgbClr val="1F3A5F"/>
                </a:solidFill>
                <a:latin typeface="Courier New"/>
              </a:rPr>
              <a:t>      One question, gpt-4o-mini: answer-only = 1 completion token; chain-of-thought = 75; five CoT samples = 375.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Methods</a:t>
            </a:r>
          </a:p>
        </p:txBody>
      </p:sp>
      <p:graphicFrame>
        <p:nvGraphicFramePr>
          <p:cNvPr id="3" name="Table 2"/>
          <p:cNvGraphicFramePr>
            <a:graphicFrameLocks noGrp="1"/>
          </p:cNvGraphicFramePr>
          <p:nvPr/>
        </p:nvGraphicFramePr>
        <p:xfrm>
          <a:off x="502920" y="987552"/>
          <a:ext cx="8229600" cy="1920240"/>
        </p:xfrm>
        <a:graphic>
          <a:graphicData uri="http://schemas.openxmlformats.org/drawingml/2006/table">
            <a:tbl>
              <a:tblPr firstRow="1" bandRow="1">
                <a:tableStyleId>{5C22544A-7EE6-4342-B048-85BDC9FD1C3A}</a:tableStyleId>
              </a:tblPr>
              <a:tblGrid>
                <a:gridCol w="2011680"/>
                <a:gridCol w="6217920"/>
              </a:tblGrid>
              <a:tr h="384048">
                <a:tc>
                  <a:txBody>
                    <a:bodyPr/>
                    <a:lstStyle/>
                    <a:p>
                      <a:r>
                        <a:rPr sz="1300" b="1">
                          <a:solidFill>
                            <a:srgbClr val="000000"/>
                          </a:solidFill>
                          <a:latin typeface="Arial"/>
                        </a:rPr>
                        <a:t>Method</a:t>
                      </a:r>
                    </a:p>
                  </a:txBody>
                  <a:tcPr/>
                </a:tc>
                <a:tc>
                  <a:txBody>
                    <a:bodyPr/>
                    <a:lstStyle/>
                    <a:p>
                      <a:r>
                        <a:rPr sz="1300" b="1">
                          <a:solidFill>
                            <a:srgbClr val="000000"/>
                          </a:solidFill>
                          <a:latin typeface="Arial"/>
                        </a:rPr>
                        <a:t>Additional predictions</a:t>
                      </a:r>
                    </a:p>
                  </a:txBody>
                  <a:tcPr/>
                </a:tc>
              </a:tr>
              <a:tr h="384048">
                <a:tc>
                  <a:txBody>
                    <a:bodyPr/>
                    <a:lstStyle/>
                    <a:p>
                      <a:r>
                        <a:rPr sz="1300" b="0">
                          <a:solidFill>
                            <a:srgbClr val="444444"/>
                          </a:solidFill>
                          <a:latin typeface="Arial"/>
                        </a:rPr>
                        <a:t>Chain-of-thought</a:t>
                      </a:r>
                    </a:p>
                  </a:txBody>
                  <a:tcPr/>
                </a:tc>
                <a:tc>
                  <a:txBody>
                    <a:bodyPr/>
                    <a:lstStyle/>
                    <a:p>
                      <a:r>
                        <a:rPr sz="1300" b="0">
                          <a:solidFill>
                            <a:srgbClr val="444444"/>
                          </a:solidFill>
                          <a:latin typeface="Arial"/>
                        </a:rPr>
                        <a:t>one longer response: one prediction per solution token</a:t>
                      </a:r>
                    </a:p>
                  </a:txBody>
                  <a:tcPr/>
                </a:tc>
              </a:tr>
              <a:tr h="384048">
                <a:tc>
                  <a:txBody>
                    <a:bodyPr/>
                    <a:lstStyle/>
                    <a:p>
                      <a:r>
                        <a:rPr sz="1300" b="0">
                          <a:solidFill>
                            <a:srgbClr val="444444"/>
                          </a:solidFill>
                          <a:latin typeface="Arial"/>
                        </a:rPr>
                        <a:t>Self-consistency</a:t>
                      </a:r>
                    </a:p>
                  </a:txBody>
                  <a:tcPr/>
                </a:tc>
                <a:tc>
                  <a:txBody>
                    <a:bodyPr/>
                    <a:lstStyle/>
                    <a:p>
                      <a:r>
                        <a:rPr sz="1300" b="0">
                          <a:solidFill>
                            <a:srgbClr val="444444"/>
                          </a:solidFill>
                          <a:latin typeface="Arial"/>
                        </a:rPr>
                        <a:t>N responses; majority vote over discrete answers</a:t>
                      </a:r>
                    </a:p>
                  </a:txBody>
                  <a:tcPr/>
                </a:tc>
              </a:tr>
              <a:tr h="384048">
                <a:tc>
                  <a:txBody>
                    <a:bodyPr/>
                    <a:lstStyle/>
                    <a:p>
                      <a:r>
                        <a:rPr sz="1300" b="0">
                          <a:solidFill>
                            <a:srgbClr val="444444"/>
                          </a:solidFill>
                          <a:latin typeface="Arial"/>
                        </a:rPr>
                        <a:t>Best-of-N</a:t>
                      </a:r>
                    </a:p>
                  </a:txBody>
                  <a:tcPr/>
                </a:tc>
                <a:tc>
                  <a:txBody>
                    <a:bodyPr/>
                    <a:lstStyle/>
                    <a:p>
                      <a:r>
                        <a:rPr sz="1300" b="0">
                          <a:solidFill>
                            <a:srgbClr val="444444"/>
                          </a:solidFill>
                          <a:latin typeface="Arial"/>
                        </a:rPr>
                        <a:t>N responses; a verifier selects one (replaces the vote for non-discrete outputs)</a:t>
                      </a:r>
                    </a:p>
                  </a:txBody>
                  <a:tcPr/>
                </a:tc>
              </a:tr>
              <a:tr h="384048">
                <a:tc>
                  <a:txBody>
                    <a:bodyPr/>
                    <a:lstStyle/>
                    <a:p>
                      <a:r>
                        <a:rPr sz="1300" b="0">
                          <a:solidFill>
                            <a:srgbClr val="444444"/>
                          </a:solidFill>
                          <a:latin typeface="Arial"/>
                        </a:rPr>
                        <a:t>Tree search</a:t>
                      </a:r>
                    </a:p>
                  </a:txBody>
                  <a:tcPr/>
                </a:tc>
                <a:tc>
                  <a:txBody>
                    <a:bodyPr/>
                    <a:lstStyle/>
                    <a:p>
                      <a:r>
                        <a:rPr sz="1300" b="0">
                          <a:solidFill>
                            <a:srgbClr val="444444"/>
                          </a:solidFill>
                          <a:latin typeface="Arial"/>
                        </a:rPr>
                        <a:t>branch, evaluate, backtrack</a:t>
                      </a:r>
                    </a:p>
                  </a:txBody>
                  <a:tcPr/>
                </a:tc>
              </a:tr>
            </a:tbl>
          </a:graphicData>
        </a:graphic>
      </p:graphicFrame>
      <p:sp>
        <p:nvSpPr>
          <p:cNvPr id="4" name="TextBox 3"/>
          <p:cNvSpPr txBox="1"/>
          <p:nvPr/>
        </p:nvSpPr>
        <p:spPr>
          <a:xfrm>
            <a:off x="502920" y="3136392"/>
            <a:ext cx="8229600" cy="1783080"/>
          </a:xfrm>
          <a:prstGeom prst="rect">
            <a:avLst/>
          </a:prstGeom>
          <a:noFill/>
        </p:spPr>
        <p:txBody>
          <a:bodyPr wrap="square">
            <a:spAutoFit/>
          </a:bodyPr>
          <a:lstStyle/>
          <a:p>
            <a:pPr>
              <a:spcAft>
                <a:spcPts val="600"/>
              </a:spcAft>
            </a:pPr>
            <a:r>
              <a:rPr sz="1500" b="0">
                <a:solidFill>
                  <a:srgbClr val="444444"/>
                </a:solidFill>
                <a:latin typeface="Arial"/>
              </a:rPr>
              <a:t>●  Common principle: inference computation is exchanged for accuracy. Best-of-N and tree search additionally require a verifier.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Test-time compute in deployed systems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Reasoning modes (OpenAI o-series, Claude extended thinking, Gemini thinking): the written solution of this chapter generated inside the model and billed per token.</a:t>
            </a:r>
          </a:p>
          <a:p>
            <a:pPr>
              <a:spcAft>
                <a:spcPts val="600"/>
              </a:spcAft>
            </a:pPr>
            <a:r>
              <a:rPr sz="1600" b="0">
                <a:solidFill>
                  <a:srgbClr val="444444"/>
                </a:solidFill>
                <a:latin typeface="Arial"/>
              </a:rPr>
              <a:t>●  Parallel-reasoning tiers (o1 pro, Gemini Deep Think, Grok Heavy): several reasoning lines generated in parallel and one selected, that is, self-consistency or best-of-N.</a:t>
            </a:r>
          </a:p>
          <a:p>
            <a:pPr>
              <a:spcAft>
                <a:spcPts val="600"/>
              </a:spcAft>
            </a:pPr>
            <a:r>
              <a:rPr sz="1600" b="0">
                <a:solidFill>
                  <a:srgbClr val="444444"/>
                </a:solidFill>
                <a:latin typeface="Arial"/>
              </a:rPr>
              <a:t>●  Cost: N samples multiply cost and latency by N. The design variable is which queries receive N &gt;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Summary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Observation: the same model answers the same problem correctly or incorrectly depending on whether the prompt permits a written solution before the answer.</a:t>
            </a:r>
          </a:p>
          <a:p>
            <a:pPr>
              <a:spcAft>
                <a:spcPts val="600"/>
              </a:spcAft>
            </a:pPr>
            <a:r>
              <a:rPr sz="1400" b="0">
                <a:solidFill>
                  <a:srgbClr val="444444"/>
                </a:solidFill>
                <a:latin typeface="Arial"/>
              </a:rPr>
              <a:t>●  Cause: the model's only workspace is the text it generates; an intermediate value exists only once written. Answer-only prompting forces every operation into one prediction, whose capacity is bounded.</a:t>
            </a:r>
          </a:p>
          <a:p>
            <a:pPr>
              <a:spcAft>
                <a:spcPts val="600"/>
              </a:spcAft>
            </a:pPr>
            <a:r>
              <a:rPr sz="1400" b="0">
                <a:solidFill>
                  <a:srgbClr val="444444"/>
                </a:solidFill>
                <a:latin typeface="Arial"/>
              </a:rPr>
              <a:t>●  Chain-of-thought: an instruction or worked examples induce the written solution. Examples additionally fix the granularity and format that an instruction leaves open.</a:t>
            </a:r>
          </a:p>
          <a:p>
            <a:pPr>
              <a:spcAft>
                <a:spcPts val="600"/>
              </a:spcAft>
            </a:pPr>
            <a:r>
              <a:rPr sz="1400" b="0">
                <a:solidFill>
                  <a:srgbClr val="444444"/>
                </a:solidFill>
                <a:latin typeface="Arial"/>
              </a:rPr>
              <a:t>●  Limit: chain-of-thought draws only on parametric knowledge. A false premise propagates through a valid chain; repair requires an external check, not a prompt.</a:t>
            </a:r>
          </a:p>
          <a:p>
            <a:pPr>
              <a:spcAft>
                <a:spcPts val="600"/>
              </a:spcAft>
            </a:pPr>
            <a:r>
              <a:rPr sz="1400" b="0">
                <a:solidFill>
                  <a:srgbClr val="444444"/>
                </a:solidFill>
                <a:latin typeface="Arial"/>
              </a:rPr>
              <a:t>●  Self-consistency: one response is one sampled path. Sampling N paths and taking the majority of discrete answers estimates the answer probability summed over paths.</a:t>
            </a:r>
          </a:p>
          <a:p>
            <a:pPr>
              <a:spcAft>
                <a:spcPts val="600"/>
              </a:spcAft>
            </a:pPr>
            <a:r>
              <a:rPr sz="1400" b="0">
                <a:solidFill>
                  <a:srgbClr val="444444"/>
                </a:solidFill>
                <a:latin typeface="Arial"/>
              </a:rPr>
              <a:t>●  Test-time compute: chain-of-thought and self-consistency both buy accuracy with additional predictions at inference time, with the weights unchanged.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