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12–19 ≈ 10 min, 20–29 ≈ 10 min. Slide 19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4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400" b="0">
                <a:solidFill>
                  <a:srgbClr val="1F3A5F"/>
                </a:solidFill>
                <a:latin typeface="Courier New"/>
              </a:rPr>
              <a:t>      Output: 1516          correct answer: 1551</a:t>
            </a:r>
          </a:p>
          <a:p>
            <a:pPr>
              <a:spcAft>
                <a:spcPts val="600"/>
              </a:spcAft>
            </a:pPr>
            <a:r>
              <a:rPr sz="1600" b="0">
                <a:solidFill>
                  <a:srgbClr val="444444"/>
                </a:solidFill>
                <a:latin typeface="Arial"/>
              </a:rPr>
              <a:t>●  Required computation: 47 × 38 = 1786; 1786 − 519 = 1267; 1267 + 284 = 1551. Two intermediate values, 1786 and 1267, must be retained between operations.</a:t>
            </a:r>
          </a:p>
          <a:p>
            <a:pPr>
              <a:spcAft>
                <a:spcPts val="600"/>
              </a:spcAft>
            </a:pPr>
            <a:r>
              <a:rPr sz="1600" b="0">
                <a:solidFill>
                  <a:srgbClr val="444444"/>
                </a:solidFill>
                <a:latin typeface="Arial"/>
              </a:rPr>
              <a:t>●  Under this prompt: no token may hold 1786 or 1267, so the single prediction that emits the answer must perform all three operations.</a:t>
            </a:r>
          </a:p>
          <a:p>
            <a:pPr>
              <a:spcAft>
                <a:spcPts val="600"/>
              </a:spcAft>
            </a:pPr>
            <a:r>
              <a:rPr sz="16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23 − 20 + 6, one operation                       answer only: 9, correct</a:t>
            </a:r>
          </a:p>
          <a:p>
            <a:pPr>
              <a:spcAft>
                <a:spcPts val="0"/>
              </a:spcAft>
            </a:pPr>
            <a:r>
              <a:rPr sz="1200" b="0">
                <a:solidFill>
                  <a:srgbClr val="1F3A5F"/>
                </a:solidFill>
                <a:latin typeface="Courier New"/>
              </a:rPr>
              <a:t>      47 × 38 − 519 + 284, six problems of this form    answer only: 0 of 6 correct (1516, 1407, 4206, 1861, 5008, 5007)</a:t>
            </a:r>
          </a:p>
          <a:p>
            <a:pPr>
              <a:spcAft>
                <a:spcPts val="600"/>
              </a:spcAft>
            </a:pPr>
            <a:r>
              <a:rPr sz="14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4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4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Procedure: prepend question–solution pairs before the question.</a:t>
            </a:r>
          </a:p>
          <a:p>
            <a:pPr>
              <a:spcAft>
                <a:spcPts val="0"/>
              </a:spcAft>
            </a:pPr>
            <a:r>
              <a:rPr sz="1300" b="0">
                <a:solidFill>
                  <a:srgbClr val="1F3A5F"/>
                </a:solidFill>
                <a:latin typeface="Courier New"/>
              </a:rPr>
              <a:t>      Q: Roger has 5 tennis balls. He buys 2 more cans of 3 balls each. How many balls does he have?</a:t>
            </a:r>
          </a:p>
          <a:p>
            <a:pPr>
              <a:spcAft>
                <a:spcPts val="0"/>
              </a:spcAft>
            </a:pPr>
            <a:r>
              <a:rPr sz="1300" b="0">
                <a:solidFill>
                  <a:srgbClr val="1F3A5F"/>
                </a:solidFill>
                <a:latin typeface="Courier New"/>
              </a:rPr>
              <a:t>      A: He starts with 5 balls. 2 cans of 3 balls is 3 × 2 = 6. 5 + 6 = 11. ANSWER: 11</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Q: There are 23 apples. 20 are used and 6 more are bought. How many are there?</a:t>
            </a:r>
          </a:p>
          <a:p>
            <a:pPr>
              <a:spcAft>
                <a:spcPts val="0"/>
              </a:spcAft>
            </a:pPr>
            <a:r>
              <a:rPr sz="1300" b="0">
                <a:solidFill>
                  <a:srgbClr val="1F3A5F"/>
                </a:solidFill>
                <a:latin typeface="Courier New"/>
              </a:rPr>
              <a:t>      A:</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Output: 23 − 20 = 3. 3 + 6 = 9. ANSWER: 9</a:t>
            </a:r>
          </a:p>
          <a:p>
            <a:pPr>
              <a:spcAft>
                <a:spcPts val="600"/>
              </a:spcAft>
            </a:pPr>
            <a:r>
              <a:rPr sz="1500" b="0">
                <a:solidFill>
                  <a:srgbClr val="444444"/>
                </a:solidFill>
                <a:latin typeface="Arial"/>
              </a:rPr>
              <a:t>●  Definition: in-context learning = the property that examples in the prompt determine the output's format and procedure with no weight update.</a:t>
            </a:r>
          </a:p>
          <a:p>
            <a:pPr>
              <a:spcAft>
                <a:spcPts val="600"/>
              </a:spcAft>
            </a:pPr>
            <a:r>
              <a:rPr sz="15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500" b="0">
                <a:solidFill>
                  <a:srgbClr val="444444"/>
                </a:solidFill>
                <a:latin typeface="Arial"/>
              </a:rPr>
              <a:t>●  Question: "Aside from the Apple Remote, what other device can control the program the Apple Remote was originally designed to interact with?"</a:t>
            </a:r>
          </a:p>
          <a:p>
            <a:pPr>
              <a:spcAft>
                <a:spcPts val="0"/>
              </a:spcAft>
            </a:pPr>
            <a:r>
              <a:rPr sz="13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5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