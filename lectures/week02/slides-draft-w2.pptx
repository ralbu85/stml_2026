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3–12 ≈ 10 min, 13–20 ≈ 10 min, 21–30 ≈ 10 min. Slide 12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apple problem under this mechanism</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compute 23 − 20 = 3, retain 3, then compute 3 + 6.</a:t>
            </a:r>
          </a:p>
          <a:p>
            <a:pPr>
              <a:spcAft>
                <a:spcPts val="600"/>
              </a:spcAft>
            </a:pPr>
            <a:r>
              <a:rPr sz="1600" b="0">
                <a:solidFill>
                  <a:srgbClr val="444444"/>
                </a:solidFill>
                <a:latin typeface="Arial"/>
              </a:rPr>
              <a:t>●  Prompt B: once "23 − 20 = 3" is written, the value 3 is in the text. The prediction of "9" reads 3 and 6 and performs one operation.</a:t>
            </a:r>
          </a:p>
          <a:p>
            <a:pPr>
              <a:spcAft>
                <a:spcPts val="600"/>
              </a:spcAft>
            </a:pPr>
            <a:r>
              <a:rPr sz="1600" b="0">
                <a:solidFill>
                  <a:srgbClr val="444444"/>
                </a:solidFill>
                <a:latin typeface="Arial"/>
              </a:rPr>
              <a:t>●  Prompt A: no intermediate text is permitted. The single prediction that emits the answer must perform both operations.</a:t>
            </a:r>
          </a:p>
          <a:p>
            <a:pPr>
              <a:spcAft>
                <a:spcPts val="600"/>
              </a:spcAft>
            </a:pPr>
            <a:r>
              <a:rPr sz="1600" b="0">
                <a:solidFill>
                  <a:srgbClr val="444444"/>
                </a:solidFill>
                <a:latin typeface="Arial"/>
              </a:rPr>
              <a:t>●  Interpretation: the extra tokens of B are the storage of intermediate values. A is the condition in which that storage is forbidden.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Question: how many operations can one prediction complete when no intermediate value may be written?</a:t>
            </a:r>
          </a:p>
          <a:p>
            <a:pPr>
              <a:spcAft>
                <a:spcPts val="600"/>
              </a:spcAft>
            </a:pPr>
            <a:r>
              <a:rPr sz="1400" b="0">
                <a:solidFill>
                  <a:srgbClr val="444444"/>
                </a:solidFill>
                <a:latin typeface="Arial"/>
              </a:rPr>
              <a:t>●  Measurement: the same two prompts on problems of increasing size (gpt-4o-mini).</a:t>
            </a:r>
          </a:p>
          <a:p>
            <a:pPr>
              <a:spcAft>
                <a:spcPts val="0"/>
              </a:spcAft>
            </a:pPr>
            <a:r>
              <a:rPr sz="1200" b="0">
                <a:solidFill>
                  <a:srgbClr val="1F3A5F"/>
                </a:solidFill>
                <a:latin typeface="Courier New"/>
              </a:rPr>
              <a:t>      23 − 20 + 6                          answer only: correct</a:t>
            </a:r>
          </a:p>
          <a:p>
            <a:pPr>
              <a:spcAft>
                <a:spcPts val="0"/>
              </a:spcAft>
            </a:pPr>
            <a:r>
              <a:rPr sz="1200" b="0">
                <a:solidFill>
                  <a:srgbClr val="1F3A5F"/>
                </a:solidFill>
                <a:latin typeface="Courier New"/>
              </a:rPr>
              <a:t>      47 × 38 − 519 + 284, six problems     answer only: 0 of 6      written solution first: 6 of 6</a:t>
            </a:r>
          </a:p>
          <a:p>
            <a:pPr>
              <a:spcAft>
                <a:spcPts val="600"/>
              </a:spcAft>
            </a:pPr>
            <a:r>
              <a:rPr sz="1400" b="0">
                <a:solidFill>
                  <a:srgbClr val="444444"/>
                </a:solidFill>
                <a:latin typeface="Arial"/>
              </a:rPr>
              <a:t>●  Result: the number of operations one prediction can complete is bounded, and the bound is reached once a multiplication is involved.</a:t>
            </a:r>
          </a:p>
          <a:p>
            <a:pPr>
              <a:spcAft>
                <a:spcPts val="600"/>
              </a:spcAft>
            </a:pPr>
            <a:r>
              <a:rPr sz="1400" b="0">
                <a:solidFill>
                  <a:srgbClr val="444444"/>
                </a:solidFill>
                <a:latin typeface="Arial"/>
              </a:rPr>
              <a:t>●  Failure form: prediction emits the most probable token whether or not the computation is complete. An unfinished computation therefore returns a number, not a refusal: expected 1551, returned 1516.</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the required computation is unfinished, and it does not stop when the required fact is absent. In both cases the most probable continuation is emitted, and it has the form of an answer.</a:t>
            </a:r>
          </a:p>
          <a:p>
            <a:pPr>
              <a:spcAft>
                <a:spcPts val="0"/>
              </a:spcAft>
            </a:pPr>
            <a:r>
              <a:rPr sz="1300" b="0">
                <a:solidFill>
                  <a:srgbClr val="1F3A5F"/>
                </a:solidFill>
                <a:latin typeface="Courier New"/>
              </a:rPr>
              <a:t>      unfinished computation → 1516 in place of 1551</a:t>
            </a:r>
          </a:p>
          <a:p>
            <a:pPr>
              <a:spcAft>
                <a:spcPts val="0"/>
              </a:spcAft>
            </a:pPr>
            <a:r>
              <a:rPr sz="1300" b="0">
                <a:solidFill>
                  <a:srgbClr val="1F3A5F"/>
                </a:solidFill>
                <a:latin typeface="Courier New"/>
              </a:rPr>
              <a:t>      absent fact           → a plausible name in place of "I do not know"</a:t>
            </a:r>
          </a:p>
          <a:p>
            <a:pPr>
              <a:spcAft>
                <a:spcPts val="600"/>
              </a:spcAft>
            </a:pPr>
            <a:r>
              <a:rPr sz="1500" b="0">
                <a:solidFill>
                  <a:srgbClr val="444444"/>
                </a:solidFill>
                <a:latin typeface="Arial"/>
              </a:rPr>
              <a:t>●  Consequence: the output carries no signal of which case produced it. A wrong number and an invented fact are equally fluent and equally confident.</a:t>
            </a:r>
          </a:p>
          <a:p>
            <a:pPr>
              <a:spcAft>
                <a:spcPts val="600"/>
              </a:spcAft>
            </a:pPr>
            <a:r>
              <a:rPr sz="1500" b="0">
                <a:solidFill>
                  <a:srgbClr val="444444"/>
                </a:solidFill>
                <a:latin typeface="Arial"/>
              </a:rPr>
              <a:t>●  Scope: writing the solution raises the bound on the computation limit, as the next section shows. It gives the model no access to a fact it does not have, so hallucination is untouched by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Procedure: prepend question–solution pairs before the question.</a:t>
            </a:r>
          </a:p>
          <a:p>
            <a:pPr>
              <a:spcAft>
                <a:spcPts val="0"/>
              </a:spcAft>
            </a:pPr>
            <a:r>
              <a:rPr sz="1300" b="0">
                <a:solidFill>
                  <a:srgbClr val="1F3A5F"/>
                </a:solidFill>
                <a:latin typeface="Courier New"/>
              </a:rPr>
              <a:t>      Q: Roger has 5 tennis balls. He buys 2 more cans of 3 balls each. How many balls does he have?</a:t>
            </a:r>
          </a:p>
          <a:p>
            <a:pPr>
              <a:spcAft>
                <a:spcPts val="0"/>
              </a:spcAft>
            </a:pPr>
            <a:r>
              <a:rPr sz="1300" b="0">
                <a:solidFill>
                  <a:srgbClr val="1F3A5F"/>
                </a:solidFill>
                <a:latin typeface="Courier New"/>
              </a:rPr>
              <a:t>      A: He starts with 5 balls. 2 cans of 3 balls is 3 × 2 = 6. 5 + 6 = 11. ANSWER: 11</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Q: There are 23 apples. 20 are used and 6 more are bought. How many are there?</a:t>
            </a:r>
          </a:p>
          <a:p>
            <a:pPr>
              <a:spcAft>
                <a:spcPts val="0"/>
              </a:spcAft>
            </a:pPr>
            <a:r>
              <a:rPr sz="1300" b="0">
                <a:solidFill>
                  <a:srgbClr val="1F3A5F"/>
                </a:solidFill>
                <a:latin typeface="Courier New"/>
              </a:rPr>
              <a:t>      A:</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Output: 23 − 20 = 3. 3 + 6 = 9. ANSWER: 9</a:t>
            </a:r>
          </a:p>
          <a:p>
            <a:pPr>
              <a:spcAft>
                <a:spcPts val="600"/>
              </a:spcAft>
            </a:pPr>
            <a:r>
              <a:rPr sz="1500" b="0">
                <a:solidFill>
                  <a:srgbClr val="444444"/>
                </a:solidFill>
                <a:latin typeface="Arial"/>
              </a:rPr>
              <a:t>●  Definition: in-context learning = the property that examples in the prompt determine the output's format and procedure with no weight update.</a:t>
            </a:r>
          </a:p>
          <a:p>
            <a:pPr>
              <a:spcAft>
                <a:spcPts val="600"/>
              </a:spcAft>
            </a:pPr>
            <a:r>
              <a:rPr sz="15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Question: "Aside from the Apple Remote, what other device can control the program the Apple Remote was originally designed to interact with?"</a:t>
            </a:r>
          </a:p>
          <a:p>
            <a:pPr>
              <a:spcAft>
                <a:spcPts val="0"/>
              </a:spcAft>
            </a:pPr>
            <a:r>
              <a:rPr sz="14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600" b="0">
                <a:solidFill>
                  <a:srgbClr val="444444"/>
                </a:solidFill>
                <a:latin typeface="Arial"/>
              </a:rPr>
              <a:t>●  Error: the first premise is false. The program was Front Row; the correct answer is keyboard function keys.</a:t>
            </a:r>
          </a:p>
          <a:p>
            <a:pPr>
              <a:spcAft>
                <a:spcPts val="600"/>
              </a:spcAft>
            </a:pPr>
            <a:r>
              <a:rPr sz="1600" b="0">
                <a:solidFill>
                  <a:srgbClr val="444444"/>
                </a:solidFill>
                <a:latin typeface="Arial"/>
              </a:rPr>
              <a:t>●  Diagnosis: the reasoning is not grounded in external information, so a hallucinated premise propagates through a valid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