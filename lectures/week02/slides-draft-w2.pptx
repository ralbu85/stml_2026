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min theory, then two presentations (CoT, Self-Consistency), then the lab.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option: run the answer-only vs. worked-solution comparison in the notebook.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slides 3–12 ≈ 10 min, 13–20 ≈ 10 min, 21–30 ≈ 10 min. Slide 12 must be kept even if time runs short: tools repair hallucination, prompting does not.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737360"/>
            <a:ext cx="8046720" cy="1645920"/>
          </a:xfrm>
          <a:prstGeom prst="rect">
            <a:avLst/>
          </a:prstGeom>
          <a:noFill/>
        </p:spPr>
        <p:txBody>
          <a:bodyPr wrap="square">
            <a:spAutoFit/>
          </a:bodyPr>
          <a:lstStyle/>
          <a:p>
            <a:pPr algn="ctr"/>
            <a:r>
              <a:rPr sz="4400" b="0">
                <a:solidFill>
                  <a:srgbClr val="000000"/>
                </a:solidFill>
                <a:latin typeface="Arial"/>
              </a:rPr>
              <a:t>Special Topics in ML</a:t>
            </a:r>
          </a:p>
          <a:p>
            <a:pPr algn="ctr"/>
            <a:r>
              <a:rPr sz="2000" b="0">
                <a:solidFill>
                  <a:srgbClr val="888888"/>
                </a:solidFill>
                <a:latin typeface="Arial"/>
              </a:rPr>
              <a:t>Week 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737360"/>
            <a:ext cx="8046720" cy="1645920"/>
          </a:xfrm>
          <a:prstGeom prst="rect">
            <a:avLst/>
          </a:prstGeom>
          <a:noFill/>
        </p:spPr>
        <p:txBody>
          <a:bodyPr wrap="square">
            <a:spAutoFit/>
          </a:bodyPr>
          <a:lstStyle/>
          <a:p>
            <a:pPr algn="ctr"/>
            <a:r>
              <a:rPr sz="4400" b="0">
                <a:solidFill>
                  <a:srgbClr val="000000"/>
                </a:solidFill>
                <a:latin typeface="Arial"/>
              </a:rPr>
              <a:t>Prompting &amp; Reasoning</a:t>
            </a:r>
          </a:p>
          <a:p>
            <a:pPr algn="ctr"/>
            <a:r>
              <a:rPr sz="2000" b="0">
                <a:solidFill>
                  <a:srgbClr val="888888"/>
                </a:solidFill>
                <a:latin typeface="Arial"/>
              </a:rPr>
              <a:t>Week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8046720" cy="1463040"/>
          </a:xfrm>
          <a:prstGeom prst="rect">
            <a:avLst/>
          </a:prstGeom>
          <a:noFill/>
        </p:spPr>
        <p:txBody>
          <a:bodyPr wrap="square" anchor="ctr">
            <a:spAutoFit/>
          </a:bodyPr>
          <a:lstStyle/>
          <a:p>
            <a:pPr algn="ctr"/>
            <a:r>
              <a:rPr sz="3600" b="0">
                <a:solidFill>
                  <a:srgbClr val="000000"/>
                </a:solidFill>
                <a:latin typeface="Arial"/>
              </a:rPr>
              <a:t>Prompt Dependence of Reasoning Accuracy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Reasoning accuracy and agent accuracy</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600" b="0">
                <a:solidFill>
                  <a:srgbClr val="444444"/>
                </a:solidFill>
                <a:latin typeface="Arial"/>
              </a:rPr>
              <a:t>●  Premise: an agent is a system whose next action is decided by the model's output. Each such decision is an inference from the current state to an action.</a:t>
            </a:r>
          </a:p>
          <a:p>
            <a:pPr>
              <a:spcAft>
                <a:spcPts val="600"/>
              </a:spcAft>
            </a:pPr>
            <a:r>
              <a:rPr sz="1600" b="0">
                <a:solidFill>
                  <a:srgbClr val="444444"/>
                </a:solidFill>
                <a:latin typeface="Arial"/>
              </a:rPr>
              <a:t>●  Bound: the accuracy of an agent is bounded above by the accuracy of the model's reasoning at each step. Tools, memory, and loops add components around the model; they do not raise the accuracy of a single call.</a:t>
            </a:r>
          </a:p>
          <a:p>
            <a:pPr>
              <a:spcAft>
                <a:spcPts val="600"/>
              </a:spcAft>
            </a:pPr>
            <a:r>
              <a:rPr sz="1600" b="0">
                <a:solidFill>
                  <a:srgbClr val="444444"/>
                </a:solidFill>
                <a:latin typeface="Arial"/>
              </a:rPr>
              <a:t>●  Scope of this chapter: the accuracy of one model call as a function of the prompt.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Reasoning</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600" b="0">
                <a:solidFill>
                  <a:srgbClr val="444444"/>
                </a:solidFill>
                <a:latin typeface="Arial"/>
              </a:rPr>
              <a:t>●  Definition: reasoning = deriving a conclusion from given premises through intermediate steps.</a:t>
            </a:r>
          </a:p>
          <a:p>
            <a:pPr>
              <a:spcAft>
                <a:spcPts val="600"/>
              </a:spcAft>
            </a:pPr>
            <a:r>
              <a:rPr sz="1600" b="0">
                <a:solidFill>
                  <a:srgbClr val="444444"/>
                </a:solidFill>
                <a:latin typeface="Arial"/>
              </a:rPr>
              <a:t>●  Instances: an arithmetic word problem (intermediate results), combining several facts to narrow an answer (intermediate inferences), ordering the steps of a plan (intermediate states).</a:t>
            </a:r>
          </a:p>
          <a:p>
            <a:pPr>
              <a:spcAft>
                <a:spcPts val="600"/>
              </a:spcAft>
            </a:pPr>
            <a:r>
              <a:rPr sz="1600" b="0">
                <a:solidFill>
                  <a:srgbClr val="444444"/>
                </a:solidFill>
                <a:latin typeface="Arial"/>
              </a:rPr>
              <a:t>●  Contrast with recall: "What is the capital of Korea?" has no intermediate step. Reasoning has steps that must be completed before the conclusion.</a:t>
            </a:r>
          </a:p>
          <a:p>
            <a:pPr>
              <a:spcAft>
                <a:spcPts val="600"/>
              </a:spcAft>
            </a:pPr>
            <a:r>
              <a:rPr sz="1600" b="0">
                <a:solidFill>
                  <a:srgbClr val="444444"/>
                </a:solidFill>
                <a:latin typeface="Arial"/>
              </a:rPr>
              <a:t>●  Error propagation: if any intermediate step is wrong, the conclusion is wrong.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The same model, two prompts</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400" b="0">
                <a:solidFill>
                  <a:srgbClr val="444444"/>
                </a:solidFill>
                <a:latin typeface="Arial"/>
              </a:rPr>
              <a:t>●  Problem: a cafeteria has 23 apples. They use 20 for lunch and buy 6 more. How many apples do they have?</a:t>
            </a:r>
          </a:p>
          <a:p>
            <a:pPr>
              <a:spcAft>
                <a:spcPts val="0"/>
              </a:spcAft>
            </a:pPr>
            <a:r>
              <a:rPr sz="1200" b="0">
                <a:solidFill>
                  <a:srgbClr val="1F3A5F"/>
                </a:solidFill>
                <a:latin typeface="Courier New"/>
              </a:rPr>
              <a:t>      Prompt A: &lt;problem&gt; Reply with only the number.</a:t>
            </a:r>
          </a:p>
          <a:p>
            <a:pPr>
              <a:spcAft>
                <a:spcPts val="0"/>
              </a:spcAft>
            </a:pPr>
            <a:r>
              <a:rPr sz="1200" b="0">
                <a:solidFill>
                  <a:srgbClr val="1F3A5F"/>
                </a:solidFill>
                <a:latin typeface="Courier New"/>
              </a:rPr>
              <a:t>      Output A: 27   (wrong)</a:t>
            </a:r>
          </a:p>
          <a:p>
            <a:pPr>
              <a:spcAft>
                <a:spcPts val="0"/>
              </a:spcAft>
            </a:pPr>
            <a:r>
              <a:rPr sz="1200" b="0">
                <a:solidFill>
                  <a:srgbClr val="1F3A5F"/>
                </a:solidFill>
                <a:latin typeface="Courier New"/>
              </a:rPr>
              <a:t>      </a:t>
            </a:r>
          </a:p>
          <a:p>
            <a:pPr>
              <a:spcAft>
                <a:spcPts val="0"/>
              </a:spcAft>
            </a:pPr>
            <a:r>
              <a:rPr sz="1200" b="0">
                <a:solidFill>
                  <a:srgbClr val="1F3A5F"/>
                </a:solidFill>
                <a:latin typeface="Courier New"/>
              </a:rPr>
              <a:t>      Prompt B: &lt;problem&gt; Write the solution step by step, then give the answer on the last line as ANSWER: &lt;number&gt;.</a:t>
            </a:r>
          </a:p>
          <a:p>
            <a:pPr>
              <a:spcAft>
                <a:spcPts val="0"/>
              </a:spcAft>
            </a:pPr>
            <a:r>
              <a:rPr sz="1200" b="0">
                <a:solidFill>
                  <a:srgbClr val="1F3A5F"/>
                </a:solidFill>
                <a:latin typeface="Courier New"/>
              </a:rPr>
              <a:t>      Output B: 23 − 20 = 3. 3 + 6 = 9. ANSWER: 9   (correct)</a:t>
            </a:r>
          </a:p>
          <a:p>
            <a:pPr>
              <a:spcAft>
                <a:spcPts val="600"/>
              </a:spcAft>
            </a:pPr>
            <a:r>
              <a:rPr sz="1400" b="0">
                <a:solidFill>
                  <a:srgbClr val="444444"/>
                </a:solidFill>
                <a:latin typeface="Arial"/>
              </a:rPr>
              <a:t>●  Evidence: measured on the large models of 2022; this pair of outputs is the observation that started chain-of-thought research.</a:t>
            </a:r>
          </a:p>
          <a:p>
            <a:pPr>
              <a:spcAft>
                <a:spcPts val="600"/>
              </a:spcAft>
            </a:pPr>
            <a:r>
              <a:rPr sz="1400" b="0">
                <a:solidFill>
                  <a:srgbClr val="444444"/>
                </a:solidFill>
                <a:latin typeface="Arial"/>
              </a:rPr>
              <a:t>●  Current models: a problem of this size is solved under Prompt A as well. The same split reappears when the number of steps and digits grows: on six problems with a two-digit product and two further operations, gpt-4o-mini scores 0/6 under A and 6/6 under B.</a:t>
            </a:r>
          </a:p>
          <a:p>
            <a:pPr>
              <a:spcAft>
                <a:spcPts val="600"/>
              </a:spcAft>
            </a:pPr>
            <a:r>
              <a:rPr sz="1400" b="0">
                <a:solidFill>
                  <a:srgbClr val="444444"/>
                </a:solidFill>
                <a:latin typeface="Arial"/>
              </a:rPr>
              <a:t>●  Conclusion: the weights are identical in A and B. The difference in correctness is caused by the computation the prompt permits before the answer token.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8046720" cy="1463040"/>
          </a:xfrm>
          <a:prstGeom prst="rect">
            <a:avLst/>
          </a:prstGeom>
          <a:noFill/>
        </p:spPr>
        <p:txBody>
          <a:bodyPr wrap="square" anchor="ctr">
            <a:spAutoFit/>
          </a:bodyPr>
          <a:lstStyle/>
          <a:p>
            <a:pPr algn="ctr"/>
            <a:r>
              <a:rPr sz="3600" b="0">
                <a:solidFill>
                  <a:srgbClr val="000000"/>
                </a:solidFill>
                <a:latin typeface="Arial"/>
              </a:rPr>
              <a:t>The Text as the Model's Only Workspace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Token prediction and intermediate values</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600" b="0">
                <a:solidFill>
                  <a:srgbClr val="444444"/>
                </a:solidFill>
                <a:latin typeface="Arial"/>
              </a:rPr>
              <a:t>●  Mechanism: an LLM generates one token at a time; each prediction reads only the text so far. No state is carried between tokens outside the text.</a:t>
            </a:r>
          </a:p>
          <a:p>
            <a:pPr>
              <a:spcAft>
                <a:spcPts val="600"/>
              </a:spcAft>
            </a:pPr>
            <a:r>
              <a:rPr sz="1600" b="0">
                <a:solidFill>
                  <a:srgbClr val="444444"/>
                </a:solidFill>
                <a:latin typeface="Arial"/>
              </a:rPr>
              <a:t>●  Consequence: an intermediate value exists for the model only if it has been written into the text.</a:t>
            </a:r>
          </a:p>
          <a:p>
            <a:pPr>
              <a:spcAft>
                <a:spcPts val="600"/>
              </a:spcAft>
            </a:pPr>
            <a:r>
              <a:rPr sz="1600" b="0">
                <a:solidFill>
                  <a:srgbClr val="444444"/>
                </a:solidFill>
                <a:latin typeface="Arial"/>
              </a:rPr>
              <a:t>●  Contrast: a person can hold "3" in working memory while continuing a sentence. The model has no working memory apart from the text it writes.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The apple problem under this mechanism</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600" b="0">
                <a:solidFill>
                  <a:srgbClr val="444444"/>
                </a:solidFill>
                <a:latin typeface="Arial"/>
              </a:rPr>
              <a:t>●  Requirement: compute 23 − 20 = 3, retain 3, then compute 3 + 6.</a:t>
            </a:r>
          </a:p>
          <a:p>
            <a:pPr>
              <a:spcAft>
                <a:spcPts val="600"/>
              </a:spcAft>
            </a:pPr>
            <a:r>
              <a:rPr sz="1600" b="0">
                <a:solidFill>
                  <a:srgbClr val="444444"/>
                </a:solidFill>
                <a:latin typeface="Arial"/>
              </a:rPr>
              <a:t>●  Prompt B: once "23 − 20 = 3" is written, the value 3 is in the text. The prediction of "9" reads 3 and 6 and performs one operation.</a:t>
            </a:r>
          </a:p>
          <a:p>
            <a:pPr>
              <a:spcAft>
                <a:spcPts val="600"/>
              </a:spcAft>
            </a:pPr>
            <a:r>
              <a:rPr sz="1600" b="0">
                <a:solidFill>
                  <a:srgbClr val="444444"/>
                </a:solidFill>
                <a:latin typeface="Arial"/>
              </a:rPr>
              <a:t>●  Prompt A: no intermediate text is permitted. The single prediction that emits the answer must perform both operations.</a:t>
            </a:r>
          </a:p>
          <a:p>
            <a:pPr>
              <a:spcAft>
                <a:spcPts val="600"/>
              </a:spcAft>
            </a:pPr>
            <a:r>
              <a:rPr sz="1600" b="0">
                <a:solidFill>
                  <a:srgbClr val="444444"/>
                </a:solidFill>
                <a:latin typeface="Arial"/>
              </a:rPr>
              <a:t>●  Interpretation: the extra tokens of B are the storage of intermediate values. A is the condition in which that storage is forbidden.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Answer-only vs. worked solution</a:t>
            </a:r>
          </a:p>
        </p:txBody>
      </p:sp>
      <p:pic>
        <p:nvPicPr>
          <p:cNvPr id="3" name="Picture 2" descr="fig-2-1-cot-workspace.png"/>
          <p:cNvPicPr>
            <a:picLocks noChangeAspect="1"/>
          </p:cNvPicPr>
          <p:nvPr/>
        </p:nvPicPr>
        <p:blipFill>
          <a:blip r:embed="rId2"/>
          <a:stretch>
            <a:fillRect/>
          </a:stretch>
        </p:blipFill>
        <p:spPr>
          <a:xfrm>
            <a:off x="1486864" y="987552"/>
            <a:ext cx="6170271" cy="2743200"/>
          </a:xfrm>
          <a:prstGeom prst="rect">
            <a:avLst/>
          </a:prstGeom>
        </p:spPr>
      </p:pic>
      <p:sp>
        <p:nvSpPr>
          <p:cNvPr id="4" name="TextBox 3"/>
          <p:cNvSpPr txBox="1"/>
          <p:nvPr/>
        </p:nvSpPr>
        <p:spPr>
          <a:xfrm>
            <a:off x="502920" y="3867912"/>
            <a:ext cx="8229600" cy="822960"/>
          </a:xfrm>
          <a:prstGeom prst="rect">
            <a:avLst/>
          </a:prstGeom>
          <a:noFill/>
        </p:spPr>
        <p:txBody>
          <a:bodyPr wrap="square">
            <a:spAutoFit/>
          </a:bodyPr>
          <a:lstStyle/>
          <a:p>
            <a:pPr algn="ctr">
              <a:spcAft>
                <a:spcPts val="600"/>
              </a:spcAft>
            </a:pPr>
            <a:r>
              <a:rPr sz="1400" b="0">
                <a:solidFill>
                  <a:srgbClr val="888888"/>
                </a:solidFill>
                <a:latin typeface="Arial"/>
              </a:rPr>
              <a:t>Under A, no token stores the intermediate value, so one prediction must carry both calculations. Under B, the written "3" is read back from the text and each step is one operation.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The per-prediction limit</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500" b="0">
                <a:solidFill>
                  <a:srgbClr val="444444"/>
                </a:solidFill>
                <a:latin typeface="Arial"/>
              </a:rPr>
              <a:t>●  Empirical fact: the number of sequential operations one prediction can perform is bounded. Failure frequency rises with the number of steps and digits.</a:t>
            </a:r>
          </a:p>
          <a:p>
            <a:pPr>
              <a:spcAft>
                <a:spcPts val="600"/>
              </a:spcAft>
            </a:pPr>
            <a:r>
              <a:rPr sz="1500" b="0">
                <a:solidFill>
                  <a:srgbClr val="444444"/>
                </a:solidFill>
                <a:latin typeface="Arial"/>
              </a:rPr>
              <a:t>●  Failure form: prediction emits the most probable token whether or not the computation is complete. An incomplete computation yields an answer-shaped number built from the digits in the problem (27 from 23 and 6).</a:t>
            </a:r>
          </a:p>
          <a:p>
            <a:pPr>
              <a:spcAft>
                <a:spcPts val="600"/>
              </a:spcAft>
            </a:pPr>
            <a:r>
              <a:rPr sz="1500" b="0">
                <a:solidFill>
                  <a:srgbClr val="444444"/>
                </a:solidFill>
                <a:latin typeface="Arial"/>
              </a:rPr>
              <a:t>●  Proposed causes: (i) the depth of computation within one forward pass is bounded by the number of layers; (ii) answer-only solution text is rare in training data. The two are compatible.</a:t>
            </a:r>
          </a:p>
          <a:p>
            <a:pPr>
              <a:spcAft>
                <a:spcPts val="600"/>
              </a:spcAft>
            </a:pPr>
            <a:r>
              <a:rPr sz="1500" b="0">
                <a:solidFill>
                  <a:srgbClr val="444444"/>
                </a:solidFill>
                <a:latin typeface="Arial"/>
              </a:rPr>
              <a:t>●  What the remainder requires: the limit is measured, and writing intermediate values circumvents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Hallucination</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600" b="0">
                <a:solidFill>
                  <a:srgbClr val="444444"/>
                </a:solidFill>
                <a:latin typeface="Arial"/>
              </a:rPr>
              <a:t>●  Definition: hallucination = generation of content that is plausible but not factual.</a:t>
            </a:r>
          </a:p>
          <a:p>
            <a:pPr>
              <a:spcAft>
                <a:spcPts val="600"/>
              </a:spcAft>
            </a:pPr>
            <a:r>
              <a:rPr sz="1600" b="0">
                <a:solidFill>
                  <a:srgbClr val="444444"/>
                </a:solidFill>
                <a:latin typeface="Arial"/>
              </a:rPr>
              <a:t>●  Mechanism: the same as the computation limit. When the required fact or computation is unavailable, prediction still emits the most probable continuation, and that continuation has the form of an answer.</a:t>
            </a:r>
          </a:p>
          <a:p>
            <a:pPr>
              <a:spcAft>
                <a:spcPts val="600"/>
              </a:spcAft>
            </a:pPr>
            <a:r>
              <a:rPr sz="1600" b="0">
                <a:solidFill>
                  <a:srgbClr val="444444"/>
                </a:solidFill>
                <a:latin typeface="Arial"/>
              </a:rPr>
              <a:t>●  Two symptoms, one mechanism: a wrong number (27) and a confident false premise are both "most probable token, regardless of completion."</a:t>
            </a:r>
          </a:p>
          <a:p>
            <a:pPr>
              <a:spcAft>
                <a:spcPts val="600"/>
              </a:spcAft>
            </a:pPr>
            <a:r>
              <a:rPr sz="1600" b="0">
                <a:solidFill>
                  <a:srgbClr val="444444"/>
                </a:solidFill>
                <a:latin typeface="Arial"/>
              </a:rPr>
              <a:t>●  Scope: prompting repairs the computation limit (next section). It does not repair hallucination (returned to after chain-of-thought).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8046720" cy="1463040"/>
          </a:xfrm>
          <a:prstGeom prst="rect">
            <a:avLst/>
          </a:prstGeom>
          <a:noFill/>
        </p:spPr>
        <p:txBody>
          <a:bodyPr wrap="square" anchor="ctr">
            <a:spAutoFit/>
          </a:bodyPr>
          <a:lstStyle/>
          <a:p>
            <a:pPr algn="ctr"/>
            <a:r>
              <a:rPr sz="3600" b="0">
                <a:solidFill>
                  <a:srgbClr val="000000"/>
                </a:solidFill>
                <a:latin typeface="Arial"/>
              </a:rPr>
              <a:t>Chain-of-Thought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Chain-of-thought prompting</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600" b="0">
                <a:solidFill>
                  <a:srgbClr val="444444"/>
                </a:solidFill>
                <a:latin typeface="Arial"/>
              </a:rPr>
              <a:t>●  Definition: chain-of-thought (CoT) prompting = prompting that induces the model to generate its solution process before the final answer.</a:t>
            </a:r>
          </a:p>
          <a:p>
            <a:pPr>
              <a:spcAft>
                <a:spcPts val="600"/>
              </a:spcAft>
            </a:pPr>
            <a:r>
              <a:rPr sz="1600" b="0">
                <a:solidFill>
                  <a:srgbClr val="444444"/>
                </a:solidFill>
                <a:latin typeface="Arial"/>
              </a:rPr>
              <a:t>●  Mechanism: each token of the solution reads the values already written and advances one operation; the answer token reads the last intermediate value.</a:t>
            </a:r>
          </a:p>
          <a:p>
            <a:pPr>
              <a:spcAft>
                <a:spcPts val="600"/>
              </a:spcAft>
            </a:pPr>
            <a:r>
              <a:rPr sz="1600" b="0">
                <a:solidFill>
                  <a:srgbClr val="444444"/>
                </a:solidFill>
                <a:latin typeface="Arial"/>
              </a:rPr>
              <a:t>●  Two forms: an instruction (zero-shot CoT) or worked examples (few-shot CoT). Both are text in the prompt; nothing else changes.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Form 1 — Instruction (zero-shot CoT)</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600" b="0">
                <a:solidFill>
                  <a:srgbClr val="444444"/>
                </a:solidFill>
                <a:latin typeface="Arial"/>
              </a:rPr>
              <a:t>●  Procedure: append one instruction after the question.</a:t>
            </a:r>
          </a:p>
          <a:p>
            <a:pPr>
              <a:spcAft>
                <a:spcPts val="0"/>
              </a:spcAft>
            </a:pPr>
            <a:r>
              <a:rPr sz="1400" b="0">
                <a:solidFill>
                  <a:srgbClr val="1F3A5F"/>
                </a:solidFill>
                <a:latin typeface="Courier New"/>
              </a:rPr>
              <a:t>      There are 23 apples. 20 are used and 6 more are bought. How many are there?</a:t>
            </a:r>
          </a:p>
          <a:p>
            <a:pPr>
              <a:spcAft>
                <a:spcPts val="0"/>
              </a:spcAft>
            </a:pPr>
            <a:r>
              <a:rPr sz="1400" b="0">
                <a:solidFill>
                  <a:srgbClr val="1F3A5F"/>
                </a:solidFill>
                <a:latin typeface="Courier New"/>
              </a:rPr>
              <a:t>      Write the solution step by step, then give the answer on the last line as ANSWER: &lt;number&gt;.</a:t>
            </a:r>
          </a:p>
          <a:p>
            <a:pPr>
              <a:spcAft>
                <a:spcPts val="0"/>
              </a:spcAft>
            </a:pPr>
            <a:r>
              <a:rPr sz="1400" b="0">
                <a:solidFill>
                  <a:srgbClr val="1F3A5F"/>
                </a:solidFill>
                <a:latin typeface="Courier New"/>
              </a:rPr>
              <a:t>      </a:t>
            </a:r>
          </a:p>
          <a:p>
            <a:pPr>
              <a:spcAft>
                <a:spcPts val="0"/>
              </a:spcAft>
            </a:pPr>
            <a:r>
              <a:rPr sz="1400" b="0">
                <a:solidFill>
                  <a:srgbClr val="1F3A5F"/>
                </a:solidFill>
                <a:latin typeface="Courier New"/>
              </a:rPr>
              <a:t>      Output: 23 − 20 = 3. 3 + 6 = 9. ANSWER: 9</a:t>
            </a:r>
          </a:p>
          <a:p>
            <a:pPr>
              <a:spcAft>
                <a:spcPts val="600"/>
              </a:spcAft>
            </a:pPr>
            <a:r>
              <a:rPr sz="1600" b="0">
                <a:solidFill>
                  <a:srgbClr val="444444"/>
                </a:solidFill>
                <a:latin typeface="Arial"/>
              </a:rPr>
              <a:t>●  Property: the instruction elicits a solution but does not specify its granularity or the format of the final line. "Step by step" admits many layouts.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Form 2 — Worked examples (few-shot CoT)</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500" b="0">
                <a:solidFill>
                  <a:srgbClr val="444444"/>
                </a:solidFill>
                <a:latin typeface="Arial"/>
              </a:rPr>
              <a:t>●  Procedure: prepend question–solution pairs before the question.</a:t>
            </a:r>
          </a:p>
          <a:p>
            <a:pPr>
              <a:spcAft>
                <a:spcPts val="0"/>
              </a:spcAft>
            </a:pPr>
            <a:r>
              <a:rPr sz="1300" b="0">
                <a:solidFill>
                  <a:srgbClr val="1F3A5F"/>
                </a:solidFill>
                <a:latin typeface="Courier New"/>
              </a:rPr>
              <a:t>      Q: Roger has 5 tennis balls. He buys 2 more cans of 3 balls each. How many balls does he have?</a:t>
            </a:r>
          </a:p>
          <a:p>
            <a:pPr>
              <a:spcAft>
                <a:spcPts val="0"/>
              </a:spcAft>
            </a:pPr>
            <a:r>
              <a:rPr sz="1300" b="0">
                <a:solidFill>
                  <a:srgbClr val="1F3A5F"/>
                </a:solidFill>
                <a:latin typeface="Courier New"/>
              </a:rPr>
              <a:t>      A: He starts with 5 balls. 2 cans of 3 balls is 3 × 2 = 6. 5 + 6 = 11. ANSWER: 11</a:t>
            </a:r>
          </a:p>
          <a:p>
            <a:pPr>
              <a:spcAft>
                <a:spcPts val="0"/>
              </a:spcAft>
            </a:pPr>
            <a:r>
              <a:rPr sz="1300" b="0">
                <a:solidFill>
                  <a:srgbClr val="1F3A5F"/>
                </a:solidFill>
                <a:latin typeface="Courier New"/>
              </a:rPr>
              <a:t>      </a:t>
            </a:r>
          </a:p>
          <a:p>
            <a:pPr>
              <a:spcAft>
                <a:spcPts val="0"/>
              </a:spcAft>
            </a:pPr>
            <a:r>
              <a:rPr sz="1300" b="0">
                <a:solidFill>
                  <a:srgbClr val="1F3A5F"/>
                </a:solidFill>
                <a:latin typeface="Courier New"/>
              </a:rPr>
              <a:t>      Q: There are 23 apples. 20 are used and 6 more are bought. How many are there?</a:t>
            </a:r>
          </a:p>
          <a:p>
            <a:pPr>
              <a:spcAft>
                <a:spcPts val="0"/>
              </a:spcAft>
            </a:pPr>
            <a:r>
              <a:rPr sz="1300" b="0">
                <a:solidFill>
                  <a:srgbClr val="1F3A5F"/>
                </a:solidFill>
                <a:latin typeface="Courier New"/>
              </a:rPr>
              <a:t>      A:</a:t>
            </a:r>
          </a:p>
          <a:p>
            <a:pPr>
              <a:spcAft>
                <a:spcPts val="0"/>
              </a:spcAft>
            </a:pPr>
            <a:r>
              <a:rPr sz="1300" b="0">
                <a:solidFill>
                  <a:srgbClr val="1F3A5F"/>
                </a:solidFill>
                <a:latin typeface="Courier New"/>
              </a:rPr>
              <a:t>      </a:t>
            </a:r>
          </a:p>
          <a:p>
            <a:pPr>
              <a:spcAft>
                <a:spcPts val="0"/>
              </a:spcAft>
            </a:pPr>
            <a:r>
              <a:rPr sz="1300" b="0">
                <a:solidFill>
                  <a:srgbClr val="1F3A5F"/>
                </a:solidFill>
                <a:latin typeface="Courier New"/>
              </a:rPr>
              <a:t>      Output: 23 − 20 = 3. 3 + 6 = 9. ANSWER: 9</a:t>
            </a:r>
          </a:p>
          <a:p>
            <a:pPr>
              <a:spcAft>
                <a:spcPts val="600"/>
              </a:spcAft>
            </a:pPr>
            <a:r>
              <a:rPr sz="1500" b="0">
                <a:solidFill>
                  <a:srgbClr val="444444"/>
                </a:solidFill>
                <a:latin typeface="Arial"/>
              </a:rPr>
              <a:t>●  Definition: in-context learning = the property that examples in the prompt determine the output's format and procedure with no weight update.</a:t>
            </a:r>
          </a:p>
          <a:p>
            <a:pPr>
              <a:spcAft>
                <a:spcPts val="600"/>
              </a:spcAft>
            </a:pPr>
            <a:r>
              <a:rPr sz="1500" b="0">
                <a:solidFill>
                  <a:srgbClr val="444444"/>
                </a:solidFill>
                <a:latin typeface="Arial"/>
              </a:rPr>
              <a:t>●  Property: the example fixes what the instruction leaves open: the step granularity, the wording of each step, and the exact final line.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Instruction versus example</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600" b="0">
                <a:solidFill>
                  <a:srgbClr val="444444"/>
                </a:solidFill>
                <a:latin typeface="Arial"/>
              </a:rPr>
              <a:t>●  Difference: an instruction names the requirement; an example exhibits it. The example therefore pins format and procedure that the instruction underspecifies.</a:t>
            </a:r>
          </a:p>
          <a:p>
            <a:pPr>
              <a:spcAft>
                <a:spcPts val="0"/>
              </a:spcAft>
            </a:pPr>
            <a:r>
              <a:rPr sz="1400" b="0">
                <a:solidFill>
                  <a:srgbClr val="1F3A5F"/>
                </a:solidFill>
                <a:latin typeface="Courier New"/>
              </a:rPr>
              <a:t>      Instruction: "Answer with the date."      → "The final date is March 10th, 2026."</a:t>
            </a:r>
          </a:p>
          <a:p>
            <a:pPr>
              <a:spcAft>
                <a:spcPts val="0"/>
              </a:spcAft>
            </a:pPr>
            <a:r>
              <a:rPr sz="1400" b="0">
                <a:solidFill>
                  <a:srgbClr val="1F3A5F"/>
                </a:solidFill>
                <a:latin typeface="Courier New"/>
              </a:rPr>
              <a:t>      Example:    "Note: … / DATE: 2026-06-09"  → "DATE: 2026-03-10"</a:t>
            </a:r>
          </a:p>
          <a:p>
            <a:pPr>
              <a:spcAft>
                <a:spcPts val="600"/>
              </a:spcAft>
            </a:pPr>
            <a:r>
              <a:rPr sz="1600" b="0">
                <a:solidFill>
                  <a:srgbClr val="444444"/>
                </a:solidFill>
                <a:latin typeface="Arial"/>
              </a:rPr>
              <a:t>●  Emergence: the CoT effect appears only above a model-scale threshold; in small models it is absent or harmful.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8046720" cy="1463040"/>
          </a:xfrm>
          <a:prstGeom prst="rect">
            <a:avLst/>
          </a:prstGeom>
          <a:noFill/>
        </p:spPr>
        <p:txBody>
          <a:bodyPr wrap="square" anchor="ctr">
            <a:spAutoFit/>
          </a:bodyPr>
          <a:lstStyle/>
          <a:p>
            <a:pPr algn="ctr"/>
            <a:r>
              <a:rPr sz="3600" b="0">
                <a:solidFill>
                  <a:srgbClr val="000000"/>
                </a:solidFill>
                <a:latin typeface="Arial"/>
              </a:rPr>
              <a:t>The Limit of Chain-of-Thought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Coherent reasoning on a false premise</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600" b="0">
                <a:solidFill>
                  <a:srgbClr val="444444"/>
                </a:solidFill>
                <a:latin typeface="Arial"/>
              </a:rPr>
              <a:t>●  Question: "Aside from the Apple Remote, what other device can control the program the Apple Remote was originally designed to interact with?"</a:t>
            </a:r>
          </a:p>
          <a:p>
            <a:pPr>
              <a:spcAft>
                <a:spcPts val="0"/>
              </a:spcAft>
            </a:pPr>
            <a:r>
              <a:rPr sz="1400" b="0">
                <a:solidFill>
                  <a:srgbClr val="1F3A5F"/>
                </a:solidFill>
                <a:latin typeface="Courier New"/>
              </a:rPr>
              <a:t>      CoT output: The Apple Remote was originally designed to interact with Apple TV. Apple TV can be controlled by iPhone, iPad, and iPod Touch. So the answer is iPhone, iPad, and iPod Touch.</a:t>
            </a:r>
          </a:p>
          <a:p>
            <a:pPr>
              <a:spcAft>
                <a:spcPts val="600"/>
              </a:spcAft>
            </a:pPr>
            <a:r>
              <a:rPr sz="1600" b="0">
                <a:solidFill>
                  <a:srgbClr val="444444"/>
                </a:solidFill>
                <a:latin typeface="Arial"/>
              </a:rPr>
              <a:t>●  Error: the first premise is false. The program was Front Row; the correct answer is keyboard function keys.</a:t>
            </a:r>
          </a:p>
          <a:p>
            <a:pPr>
              <a:spcAft>
                <a:spcPts val="600"/>
              </a:spcAft>
            </a:pPr>
            <a:r>
              <a:rPr sz="1600" b="0">
                <a:solidFill>
                  <a:srgbClr val="444444"/>
                </a:solidFill>
                <a:latin typeface="Arial"/>
              </a:rPr>
              <a:t>●  Diagnosis: the reasoning is not grounded in external information, so a hallucinated premise propagates through a valid chain.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Why prompting cannot repair it</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500" b="0">
                <a:solidFill>
                  <a:srgbClr val="444444"/>
                </a:solidFill>
                <a:latin typeface="Arial"/>
              </a:rPr>
              <a:t>●  Cause: CoT draws only on knowledge stored in the parameters. No prompt gives the model access to an external fact.</a:t>
            </a:r>
          </a:p>
          <a:p>
            <a:pPr>
              <a:spcAft>
                <a:spcPts val="600"/>
              </a:spcAft>
            </a:pPr>
            <a:r>
              <a:rPr sz="1500" b="0">
                <a:solidFill>
                  <a:srgbClr val="444444"/>
                </a:solidFill>
                <a:latin typeface="Arial"/>
              </a:rPr>
              <a:t>●  Test: adding "Verify each step before continuing" produces a more elaborate chain on the same false premise.</a:t>
            </a:r>
          </a:p>
          <a:p>
            <a:pPr>
              <a:spcAft>
                <a:spcPts val="0"/>
              </a:spcAft>
            </a:pPr>
            <a:r>
              <a:rPr sz="1300" b="0">
                <a:solidFill>
                  <a:srgbClr val="1F3A5F"/>
                </a:solidFill>
                <a:latin typeface="Courier New"/>
              </a:rPr>
              <a:t>      Prompt: &lt;question&gt; Verify each step before continuing.</a:t>
            </a:r>
          </a:p>
          <a:p>
            <a:pPr>
              <a:spcAft>
                <a:spcPts val="0"/>
              </a:spcAft>
            </a:pPr>
            <a:r>
              <a:rPr sz="1300" b="0">
                <a:solidFill>
                  <a:srgbClr val="1F3A5F"/>
                </a:solidFill>
                <a:latin typeface="Courier New"/>
              </a:rPr>
              <a:t>      Output: Step 1: The Apple Remote was designed for Apple TV. Verified. Step 2: …</a:t>
            </a:r>
          </a:p>
          <a:p>
            <a:pPr>
              <a:spcAft>
                <a:spcPts val="600"/>
              </a:spcAft>
            </a:pPr>
            <a:r>
              <a:rPr sz="1500" b="0">
                <a:solidFill>
                  <a:srgbClr val="444444"/>
                </a:solidFill>
                <a:latin typeface="Arial"/>
              </a:rPr>
              <a:t>●  Repair: a step that checks facts against an external source, that is, a tool call (for this question, a search) inserted between the premise and the next step.</a:t>
            </a:r>
          </a:p>
          <a:p>
            <a:pPr>
              <a:spcAft>
                <a:spcPts val="600"/>
              </a:spcAft>
            </a:pPr>
            <a:r>
              <a:rPr sz="1500" b="0">
                <a:solidFill>
                  <a:srgbClr val="444444"/>
                </a:solidFill>
                <a:latin typeface="Arial"/>
              </a:rPr>
              <a:t>●  Remaining direction: CoT adds predictions within one response. Predictions can also be added by generating the response more than once.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8046720" cy="1463040"/>
          </a:xfrm>
          <a:prstGeom prst="rect">
            <a:avLst/>
          </a:prstGeom>
          <a:noFill/>
        </p:spPr>
        <p:txBody>
          <a:bodyPr wrap="square" anchor="ctr">
            <a:spAutoFit/>
          </a:bodyPr>
          <a:lstStyle/>
          <a:p>
            <a:pPr algn="ctr"/>
            <a:r>
              <a:rPr sz="3600" b="0">
                <a:solidFill>
                  <a:srgbClr val="000000"/>
                </a:solidFill>
                <a:latin typeface="Arial"/>
              </a:rPr>
              <a:t>Self-Consistency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One response as one sample</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600" b="0">
                <a:solidFill>
                  <a:srgbClr val="444444"/>
                </a:solidFill>
                <a:latin typeface="Arial"/>
              </a:rPr>
              <a:t>●  Sampling: an LLM draws each token from a probability distribution. Temperature = the parameter controlling the randomness of that draw; at temperature 0 the most probable token is taken.</a:t>
            </a:r>
          </a:p>
          <a:p>
            <a:pPr>
              <a:spcAft>
                <a:spcPts val="600"/>
              </a:spcAft>
            </a:pPr>
            <a:r>
              <a:rPr sz="1600" b="0">
                <a:solidFill>
                  <a:srgbClr val="444444"/>
                </a:solidFill>
                <a:latin typeface="Arial"/>
              </a:rPr>
              <a:t>●  Consequence: at temperature &gt; 0, repeated runs of the same prompt follow different solution paths and may reach different answers.</a:t>
            </a:r>
          </a:p>
          <a:p>
            <a:pPr>
              <a:spcAft>
                <a:spcPts val="600"/>
              </a:spcAft>
            </a:pPr>
            <a:r>
              <a:rPr sz="1600" b="0">
                <a:solidFill>
                  <a:srgbClr val="444444"/>
                </a:solidFill>
                <a:latin typeface="Arial"/>
              </a:rPr>
              <a:t>●  Interpretation: one response is one sample from the set of possible reasoning paths. A wrong sample does not imply that the next sample is wrong.</a:t>
            </a:r>
          </a:p>
          <a:p>
            <a:pPr>
              <a:spcAft>
                <a:spcPts val="0"/>
              </a:spcAft>
            </a:pPr>
            <a:r>
              <a:rPr sz="1400" b="0">
                <a:solidFill>
                  <a:srgbClr val="1F3A5F"/>
                </a:solidFill>
                <a:latin typeface="Courier New"/>
              </a:rPr>
              <a:t>      Same CoT prompt, temperature 1.0, five runs → final answers: 9, 27, 9, 8, 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Majority voting — Self-Consistency</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600" b="0">
                <a:solidFill>
                  <a:srgbClr val="444444"/>
                </a:solidFill>
                <a:latin typeface="Arial"/>
              </a:rPr>
              <a:t>●  Definition: self-consistency = sample N solutions at temperature &gt; 0, extract the final answer of each, and return the majority answer.</a:t>
            </a:r>
          </a:p>
          <a:p>
            <a:pPr>
              <a:spcAft>
                <a:spcPts val="600"/>
              </a:spcAft>
            </a:pPr>
            <a:r>
              <a:rPr sz="1600" b="0">
                <a:solidFill>
                  <a:srgbClr val="444444"/>
                </a:solidFill>
                <a:latin typeface="Arial"/>
              </a:rPr>
              <a:t>●  Justification: P(a | q) = Σ_r P(a | r, q) P(r | q). A single response evaluates one term (one path r). The vote over samples estimates the sum over paths.</a:t>
            </a:r>
          </a:p>
          <a:p>
            <a:pPr>
              <a:spcAft>
                <a:spcPts val="600"/>
              </a:spcAft>
            </a:pPr>
            <a:r>
              <a:rPr sz="1600" b="0">
                <a:solidFill>
                  <a:srgbClr val="444444"/>
                </a:solidFill>
                <a:latin typeface="Arial"/>
              </a:rPr>
              <a:t>●  Empirical pattern: correct answers are reached by different paths that converge on one value; wrong answers scatter across distinct values.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Self-consistency</a:t>
            </a:r>
          </a:p>
        </p:txBody>
      </p:sp>
      <p:pic>
        <p:nvPicPr>
          <p:cNvPr id="3" name="Picture 2" descr="fig-2-2-self-consistency.png"/>
          <p:cNvPicPr>
            <a:picLocks noChangeAspect="1"/>
          </p:cNvPicPr>
          <p:nvPr/>
        </p:nvPicPr>
        <p:blipFill>
          <a:blip r:embed="rId2"/>
          <a:stretch>
            <a:fillRect/>
          </a:stretch>
        </p:blipFill>
        <p:spPr>
          <a:xfrm>
            <a:off x="1236802" y="987552"/>
            <a:ext cx="6670395" cy="2743200"/>
          </a:xfrm>
          <a:prstGeom prst="rect">
            <a:avLst/>
          </a:prstGeom>
        </p:spPr>
      </p:pic>
      <p:sp>
        <p:nvSpPr>
          <p:cNvPr id="4" name="TextBox 3"/>
          <p:cNvSpPr txBox="1"/>
          <p:nvPr/>
        </p:nvSpPr>
        <p:spPr>
          <a:xfrm>
            <a:off x="502920" y="3867912"/>
            <a:ext cx="8229600" cy="822960"/>
          </a:xfrm>
          <a:prstGeom prst="rect">
            <a:avLst/>
          </a:prstGeom>
          <a:noFill/>
        </p:spPr>
        <p:txBody>
          <a:bodyPr wrap="square">
            <a:spAutoFit/>
          </a:bodyPr>
          <a:lstStyle/>
          <a:p>
            <a:pPr algn="ctr">
              <a:spcAft>
                <a:spcPts val="600"/>
              </a:spcAft>
            </a:pPr>
            <a:r>
              <a:rPr sz="1400" b="0">
                <a:solidFill>
                  <a:srgbClr val="888888"/>
                </a:solidFill>
                <a:latin typeface="Arial"/>
              </a:rPr>
              <a:t>Paths sampled from the same question. Correct paths converge on one value, wrong paths scatter, and the vote returns the convergent value.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Precondition of the vote</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600" b="0">
                <a:solidFill>
                  <a:srgbClr val="444444"/>
                </a:solidFill>
                <a:latin typeface="Arial"/>
              </a:rPr>
              <a:t>●  Requirement: the final answer must be discrete and extractable (a number, a choice, a short string) so that equal answers can be counted.</a:t>
            </a:r>
          </a:p>
          <a:p>
            <a:pPr>
              <a:spcAft>
                <a:spcPts val="600"/>
              </a:spcAft>
            </a:pPr>
            <a:r>
              <a:rPr sz="1600" b="0">
                <a:solidFill>
                  <a:srgbClr val="444444"/>
                </a:solidFill>
                <a:latin typeface="Arial"/>
              </a:rPr>
              <a:t>●  Failure case: free-form text. Two 200-word abstracts are never identical; the vote has nothing to count.</a:t>
            </a:r>
          </a:p>
          <a:p>
            <a:pPr>
              <a:spcAft>
                <a:spcPts val="600"/>
              </a:spcAft>
            </a:pPr>
            <a:r>
              <a:rPr sz="1600" b="0">
                <a:solidFill>
                  <a:srgbClr val="444444"/>
                </a:solidFill>
                <a:latin typeface="Arial"/>
              </a:rPr>
              <a:t>●  Replacement: selection among non-discrete outputs requires a scoring function, a verifier.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8046720" cy="1463040"/>
          </a:xfrm>
          <a:prstGeom prst="rect">
            <a:avLst/>
          </a:prstGeom>
          <a:noFill/>
        </p:spPr>
        <p:txBody>
          <a:bodyPr wrap="square" anchor="ctr">
            <a:spAutoFit/>
          </a:bodyPr>
          <a:lstStyle/>
          <a:p>
            <a:pPr algn="ctr"/>
            <a:r>
              <a:rPr sz="3600" b="0">
                <a:solidFill>
                  <a:srgbClr val="000000"/>
                </a:solidFill>
                <a:latin typeface="Arial"/>
              </a:rPr>
              <a:t>Test-Time Compute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Accounting in predictions</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600" b="0">
                <a:solidFill>
                  <a:srgbClr val="444444"/>
                </a:solidFill>
                <a:latin typeface="Arial"/>
              </a:rPr>
              <a:t>●  Count: CoT lengthens one response by one prediction per solution token. Self-consistency multiplies the number of responses by N.</a:t>
            </a:r>
          </a:p>
          <a:p>
            <a:pPr>
              <a:spcAft>
                <a:spcPts val="600"/>
              </a:spcAft>
            </a:pPr>
            <a:r>
              <a:rPr sz="1600" b="0">
                <a:solidFill>
                  <a:srgbClr val="444444"/>
                </a:solidFill>
                <a:latin typeface="Arial"/>
              </a:rPr>
              <a:t>●  Cost: the cost of one prediction is approximately constant, so cost is proportional to the number of predictions.</a:t>
            </a:r>
          </a:p>
          <a:p>
            <a:pPr>
              <a:spcAft>
                <a:spcPts val="600"/>
              </a:spcAft>
            </a:pPr>
            <a:r>
              <a:rPr sz="1600" b="0">
                <a:solidFill>
                  <a:srgbClr val="444444"/>
                </a:solidFill>
                <a:latin typeface="Arial"/>
              </a:rPr>
              <a:t>●  Definition: test-time compute = accuracy obtained by increasing the number of predictions at inference time, with the weights unchanged. The general principle is inference-time scaling.</a:t>
            </a:r>
          </a:p>
          <a:p>
            <a:pPr>
              <a:spcAft>
                <a:spcPts val="0"/>
              </a:spcAft>
            </a:pPr>
            <a:r>
              <a:rPr sz="1400" b="0">
                <a:solidFill>
                  <a:srgbClr val="1F3A5F"/>
                </a:solidFill>
                <a:latin typeface="Courier New"/>
              </a:rPr>
              <a:t>      One question, gpt-4o-mini: answer-only = 1 completion token; chain-of-thought = 75; five CoT samples = 375.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Methods</a:t>
            </a:r>
          </a:p>
        </p:txBody>
      </p:sp>
      <p:graphicFrame>
        <p:nvGraphicFramePr>
          <p:cNvPr id="3" name="Table 2"/>
          <p:cNvGraphicFramePr>
            <a:graphicFrameLocks noGrp="1"/>
          </p:cNvGraphicFramePr>
          <p:nvPr/>
        </p:nvGraphicFramePr>
        <p:xfrm>
          <a:off x="502920" y="987552"/>
          <a:ext cx="8229600" cy="1920240"/>
        </p:xfrm>
        <a:graphic>
          <a:graphicData uri="http://schemas.openxmlformats.org/drawingml/2006/table">
            <a:tbl>
              <a:tblPr firstRow="1" bandRow="1">
                <a:tableStyleId>{5C22544A-7EE6-4342-B048-85BDC9FD1C3A}</a:tableStyleId>
              </a:tblPr>
              <a:tblGrid>
                <a:gridCol w="2011680"/>
                <a:gridCol w="6217920"/>
              </a:tblGrid>
              <a:tr h="384048">
                <a:tc>
                  <a:txBody>
                    <a:bodyPr/>
                    <a:lstStyle/>
                    <a:p>
                      <a:r>
                        <a:rPr sz="1300" b="1">
                          <a:solidFill>
                            <a:srgbClr val="000000"/>
                          </a:solidFill>
                          <a:latin typeface="Arial"/>
                        </a:rPr>
                        <a:t>Method</a:t>
                      </a:r>
                    </a:p>
                  </a:txBody>
                  <a:tcPr/>
                </a:tc>
                <a:tc>
                  <a:txBody>
                    <a:bodyPr/>
                    <a:lstStyle/>
                    <a:p>
                      <a:r>
                        <a:rPr sz="1300" b="1">
                          <a:solidFill>
                            <a:srgbClr val="000000"/>
                          </a:solidFill>
                          <a:latin typeface="Arial"/>
                        </a:rPr>
                        <a:t>Additional predictions</a:t>
                      </a:r>
                    </a:p>
                  </a:txBody>
                  <a:tcPr/>
                </a:tc>
              </a:tr>
              <a:tr h="384048">
                <a:tc>
                  <a:txBody>
                    <a:bodyPr/>
                    <a:lstStyle/>
                    <a:p>
                      <a:r>
                        <a:rPr sz="1300" b="0">
                          <a:solidFill>
                            <a:srgbClr val="444444"/>
                          </a:solidFill>
                          <a:latin typeface="Arial"/>
                        </a:rPr>
                        <a:t>Chain-of-thought</a:t>
                      </a:r>
                    </a:p>
                  </a:txBody>
                  <a:tcPr/>
                </a:tc>
                <a:tc>
                  <a:txBody>
                    <a:bodyPr/>
                    <a:lstStyle/>
                    <a:p>
                      <a:r>
                        <a:rPr sz="1300" b="0">
                          <a:solidFill>
                            <a:srgbClr val="444444"/>
                          </a:solidFill>
                          <a:latin typeface="Arial"/>
                        </a:rPr>
                        <a:t>one longer response: one prediction per solution token</a:t>
                      </a:r>
                    </a:p>
                  </a:txBody>
                  <a:tcPr/>
                </a:tc>
              </a:tr>
              <a:tr h="384048">
                <a:tc>
                  <a:txBody>
                    <a:bodyPr/>
                    <a:lstStyle/>
                    <a:p>
                      <a:r>
                        <a:rPr sz="1300" b="0">
                          <a:solidFill>
                            <a:srgbClr val="444444"/>
                          </a:solidFill>
                          <a:latin typeface="Arial"/>
                        </a:rPr>
                        <a:t>Self-consistency</a:t>
                      </a:r>
                    </a:p>
                  </a:txBody>
                  <a:tcPr/>
                </a:tc>
                <a:tc>
                  <a:txBody>
                    <a:bodyPr/>
                    <a:lstStyle/>
                    <a:p>
                      <a:r>
                        <a:rPr sz="1300" b="0">
                          <a:solidFill>
                            <a:srgbClr val="444444"/>
                          </a:solidFill>
                          <a:latin typeface="Arial"/>
                        </a:rPr>
                        <a:t>N responses; majority vote over discrete answers</a:t>
                      </a:r>
                    </a:p>
                  </a:txBody>
                  <a:tcPr/>
                </a:tc>
              </a:tr>
              <a:tr h="384048">
                <a:tc>
                  <a:txBody>
                    <a:bodyPr/>
                    <a:lstStyle/>
                    <a:p>
                      <a:r>
                        <a:rPr sz="1300" b="0">
                          <a:solidFill>
                            <a:srgbClr val="444444"/>
                          </a:solidFill>
                          <a:latin typeface="Arial"/>
                        </a:rPr>
                        <a:t>Best-of-N</a:t>
                      </a:r>
                    </a:p>
                  </a:txBody>
                  <a:tcPr/>
                </a:tc>
                <a:tc>
                  <a:txBody>
                    <a:bodyPr/>
                    <a:lstStyle/>
                    <a:p>
                      <a:r>
                        <a:rPr sz="1300" b="0">
                          <a:solidFill>
                            <a:srgbClr val="444444"/>
                          </a:solidFill>
                          <a:latin typeface="Arial"/>
                        </a:rPr>
                        <a:t>N responses; a verifier selects one (replaces the vote for non-discrete outputs)</a:t>
                      </a:r>
                    </a:p>
                  </a:txBody>
                  <a:tcPr/>
                </a:tc>
              </a:tr>
              <a:tr h="384048">
                <a:tc>
                  <a:txBody>
                    <a:bodyPr/>
                    <a:lstStyle/>
                    <a:p>
                      <a:r>
                        <a:rPr sz="1300" b="0">
                          <a:solidFill>
                            <a:srgbClr val="444444"/>
                          </a:solidFill>
                          <a:latin typeface="Arial"/>
                        </a:rPr>
                        <a:t>Tree search</a:t>
                      </a:r>
                    </a:p>
                  </a:txBody>
                  <a:tcPr/>
                </a:tc>
                <a:tc>
                  <a:txBody>
                    <a:bodyPr/>
                    <a:lstStyle/>
                    <a:p>
                      <a:r>
                        <a:rPr sz="1300" b="0">
                          <a:solidFill>
                            <a:srgbClr val="444444"/>
                          </a:solidFill>
                          <a:latin typeface="Arial"/>
                        </a:rPr>
                        <a:t>branch, evaluate, backtrack</a:t>
                      </a:r>
                    </a:p>
                  </a:txBody>
                  <a:tcPr/>
                </a:tc>
              </a:tr>
            </a:tbl>
          </a:graphicData>
        </a:graphic>
      </p:graphicFrame>
      <p:sp>
        <p:nvSpPr>
          <p:cNvPr id="4" name="TextBox 3"/>
          <p:cNvSpPr txBox="1"/>
          <p:nvPr/>
        </p:nvSpPr>
        <p:spPr>
          <a:xfrm>
            <a:off x="502920" y="3136392"/>
            <a:ext cx="8229600" cy="1783080"/>
          </a:xfrm>
          <a:prstGeom prst="rect">
            <a:avLst/>
          </a:prstGeom>
          <a:noFill/>
        </p:spPr>
        <p:txBody>
          <a:bodyPr wrap="square">
            <a:spAutoFit/>
          </a:bodyPr>
          <a:lstStyle/>
          <a:p>
            <a:pPr>
              <a:spcAft>
                <a:spcPts val="600"/>
              </a:spcAft>
            </a:pPr>
            <a:r>
              <a:rPr sz="1500" b="0">
                <a:solidFill>
                  <a:srgbClr val="444444"/>
                </a:solidFill>
                <a:latin typeface="Arial"/>
              </a:rPr>
              <a:t>●  Common principle: inference computation is exchanged for accuracy. Best-of-N and tree search additionally require a verifier.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Test-time compute in deployed systems</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600" b="0">
                <a:solidFill>
                  <a:srgbClr val="444444"/>
                </a:solidFill>
                <a:latin typeface="Arial"/>
              </a:rPr>
              <a:t>●  Reasoning modes (OpenAI o-series, Claude extended thinking, Gemini thinking): the written solution of this chapter generated inside the model and billed per token.</a:t>
            </a:r>
          </a:p>
          <a:p>
            <a:pPr>
              <a:spcAft>
                <a:spcPts val="600"/>
              </a:spcAft>
            </a:pPr>
            <a:r>
              <a:rPr sz="1600" b="0">
                <a:solidFill>
                  <a:srgbClr val="444444"/>
                </a:solidFill>
                <a:latin typeface="Arial"/>
              </a:rPr>
              <a:t>●  Parallel-reasoning tiers (o1 pro, Gemini Deep Think, Grok Heavy): several reasoning lines generated in parallel and one selected, that is, self-consistency or best-of-N.</a:t>
            </a:r>
          </a:p>
          <a:p>
            <a:pPr>
              <a:spcAft>
                <a:spcPts val="600"/>
              </a:spcAft>
            </a:pPr>
            <a:r>
              <a:rPr sz="1600" b="0">
                <a:solidFill>
                  <a:srgbClr val="444444"/>
                </a:solidFill>
                <a:latin typeface="Arial"/>
              </a:rPr>
              <a:t>●  Cost: N samples multiply cost and latency by N. The design variable is which queries receive N &gt; 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256032"/>
            <a:ext cx="8375904" cy="640080"/>
          </a:xfrm>
          <a:prstGeom prst="rect">
            <a:avLst/>
          </a:prstGeom>
          <a:noFill/>
        </p:spPr>
        <p:txBody>
          <a:bodyPr wrap="square">
            <a:spAutoFit/>
          </a:bodyPr>
          <a:lstStyle/>
          <a:p>
            <a:r>
              <a:rPr sz="2400" b="0">
                <a:solidFill>
                  <a:srgbClr val="000000"/>
                </a:solidFill>
                <a:latin typeface="Arial"/>
              </a:rPr>
              <a:t>Summary</a:t>
            </a:r>
          </a:p>
        </p:txBody>
      </p:sp>
      <p:sp>
        <p:nvSpPr>
          <p:cNvPr id="3" name="TextBox 2"/>
          <p:cNvSpPr txBox="1"/>
          <p:nvPr/>
        </p:nvSpPr>
        <p:spPr>
          <a:xfrm>
            <a:off x="502920" y="987552"/>
            <a:ext cx="8229600" cy="3931920"/>
          </a:xfrm>
          <a:prstGeom prst="rect">
            <a:avLst/>
          </a:prstGeom>
          <a:noFill/>
        </p:spPr>
        <p:txBody>
          <a:bodyPr wrap="square">
            <a:spAutoFit/>
          </a:bodyPr>
          <a:lstStyle/>
          <a:p>
            <a:pPr>
              <a:spcAft>
                <a:spcPts val="600"/>
              </a:spcAft>
            </a:pPr>
            <a:r>
              <a:rPr sz="1400" b="0">
                <a:solidFill>
                  <a:srgbClr val="444444"/>
                </a:solidFill>
                <a:latin typeface="Arial"/>
              </a:rPr>
              <a:t>●  Observation: the same model answers the same problem correctly or incorrectly depending on whether the prompt permits a written solution before the answer.</a:t>
            </a:r>
          </a:p>
          <a:p>
            <a:pPr>
              <a:spcAft>
                <a:spcPts val="600"/>
              </a:spcAft>
            </a:pPr>
            <a:r>
              <a:rPr sz="1400" b="0">
                <a:solidFill>
                  <a:srgbClr val="444444"/>
                </a:solidFill>
                <a:latin typeface="Arial"/>
              </a:rPr>
              <a:t>●  Cause: the model's only workspace is the text it generates; an intermediate value exists only once written. Answer-only prompting forces every operation into one prediction, whose capacity is bounded.</a:t>
            </a:r>
          </a:p>
          <a:p>
            <a:pPr>
              <a:spcAft>
                <a:spcPts val="600"/>
              </a:spcAft>
            </a:pPr>
            <a:r>
              <a:rPr sz="1400" b="0">
                <a:solidFill>
                  <a:srgbClr val="444444"/>
                </a:solidFill>
                <a:latin typeface="Arial"/>
              </a:rPr>
              <a:t>●  Chain-of-thought: an instruction or worked examples induce the written solution. Examples additionally fix the granularity and format that an instruction leaves open.</a:t>
            </a:r>
          </a:p>
          <a:p>
            <a:pPr>
              <a:spcAft>
                <a:spcPts val="600"/>
              </a:spcAft>
            </a:pPr>
            <a:r>
              <a:rPr sz="1400" b="0">
                <a:solidFill>
                  <a:srgbClr val="444444"/>
                </a:solidFill>
                <a:latin typeface="Arial"/>
              </a:rPr>
              <a:t>●  Limit: chain-of-thought draws only on parametric knowledge. A false premise propagates through a valid chain; repair requires an external check, not a prompt.</a:t>
            </a:r>
          </a:p>
          <a:p>
            <a:pPr>
              <a:spcAft>
                <a:spcPts val="600"/>
              </a:spcAft>
            </a:pPr>
            <a:r>
              <a:rPr sz="1400" b="0">
                <a:solidFill>
                  <a:srgbClr val="444444"/>
                </a:solidFill>
                <a:latin typeface="Arial"/>
              </a:rPr>
              <a:t>●  Self-consistency: one response is one sampled path. Sampling N paths and taking the majority of discrete answers estimates the answer probability summed over paths.</a:t>
            </a:r>
          </a:p>
          <a:p>
            <a:pPr>
              <a:spcAft>
                <a:spcPts val="600"/>
              </a:spcAft>
            </a:pPr>
            <a:r>
              <a:rPr sz="1400" b="0">
                <a:solidFill>
                  <a:srgbClr val="444444"/>
                </a:solidFill>
                <a:latin typeface="Arial"/>
              </a:rPr>
              <a:t>●  Test-time compute: chain-of-thought and self-consistency both buy accuracy with additional predictions at inference time, with the weights unchanged.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